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49240"/>
            <a:ext cx="12191695" cy="1508760"/>
          </a:xfrm>
          <a:prstGeom prst="rect">
            <a:avLst/>
          </a:prstGeom>
          <a:solidFill>
            <a:srgbClr val="142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0"/>
            <a:ext cx="10972800" cy="1097280"/>
          </a:xfrm>
          <a:prstGeom prst="rect">
            <a:avLst/>
          </a:prstGeom>
          <a:noFill/>
        </p:spPr>
        <p:txBody>
          <a:bodyPr wrap="none">
            <a:spAutoFit/>
          </a:bodyPr>
          <a:lstStyle/>
          <a:p>
            <a:r>
              <a:rPr sz="4000" b="1">
                <a:solidFill>
                  <a:srgbClr val="FFFFFF"/>
                </a:solidFill>
                <a:latin typeface="Calibri"/>
              </a:rPr>
              <a:t>From OpenSCAD models
to engineering drawings</a:t>
            </a:r>
          </a:p>
        </p:txBody>
      </p:sp>
      <p:sp>
        <p:nvSpPr>
          <p:cNvPr id="5" name="TextBox 4"/>
          <p:cNvSpPr txBox="1"/>
          <p:nvPr/>
        </p:nvSpPr>
        <p:spPr>
          <a:xfrm>
            <a:off x="640080" y="3977639"/>
            <a:ext cx="10972800" cy="731520"/>
          </a:xfrm>
          <a:prstGeom prst="rect">
            <a:avLst/>
          </a:prstGeom>
          <a:noFill/>
        </p:spPr>
        <p:txBody>
          <a:bodyPr wrap="none">
            <a:spAutoFit/>
          </a:bodyPr>
          <a:lstStyle/>
          <a:p>
            <a:r>
              <a:rPr sz="1800" b="0">
                <a:solidFill>
                  <a:srgbClr val="D5E2F2"/>
                </a:solidFill>
                <a:latin typeface="Calibri"/>
              </a:rPr>
              <a:t>scad2drawing V1  ·  a Colab pipeline that turns a .scad file into a STEP solid and a dimensioned PDF</a:t>
            </a:r>
          </a:p>
        </p:txBody>
      </p:sp>
      <p:sp>
        <p:nvSpPr>
          <p:cNvPr id="6" name="TextBox 5"/>
          <p:cNvSpPr txBox="1"/>
          <p:nvPr/>
        </p:nvSpPr>
        <p:spPr>
          <a:xfrm>
            <a:off x="640080" y="5669280"/>
            <a:ext cx="10972800" cy="731520"/>
          </a:xfrm>
          <a:prstGeom prst="rect">
            <a:avLst/>
          </a:prstGeom>
          <a:noFill/>
        </p:spPr>
        <p:txBody>
          <a:bodyPr wrap="none">
            <a:spAutoFit/>
          </a:bodyPr>
          <a:lstStyle/>
          <a:p>
            <a:r>
              <a:rPr sz="1600" b="0">
                <a:solidFill>
                  <a:srgbClr val="B8C9DE"/>
                </a:solidFill>
                <a:latin typeface="Calibri"/>
              </a:rPr>
              <a:t>Supervisor briefing  ·  what each piece of software is, what we built, and what we did not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457200"/>
          </a:xfrm>
          <a:prstGeom prst="rect">
            <a:avLst/>
          </a:prstGeom>
          <a:noFill/>
        </p:spPr>
        <p:txBody>
          <a:bodyPr wrap="none">
            <a:spAutoFit/>
          </a:bodyPr>
          <a:lstStyle/>
          <a:p>
            <a:r>
              <a:rPr sz="2600" b="1">
                <a:solidFill>
                  <a:srgbClr val="FFFFFF"/>
                </a:solidFill>
                <a:latin typeface="Calibri"/>
              </a:rPr>
              <a:t>The problem</a:t>
            </a:r>
          </a:p>
        </p:txBody>
      </p:sp>
      <p:sp>
        <p:nvSpPr>
          <p:cNvPr id="4" name="TextBox 3"/>
          <p:cNvSpPr txBox="1"/>
          <p:nvPr/>
        </p:nvSpPr>
        <p:spPr>
          <a:xfrm>
            <a:off x="457200" y="585216"/>
            <a:ext cx="11247120" cy="292608"/>
          </a:xfrm>
          <a:prstGeom prst="rect">
            <a:avLst/>
          </a:prstGeom>
          <a:noFill/>
        </p:spPr>
        <p:txBody>
          <a:bodyPr wrap="none">
            <a:spAutoFit/>
          </a:bodyPr>
          <a:lstStyle/>
          <a:p>
            <a:r>
              <a:rPr sz="1300" b="0">
                <a:solidFill>
                  <a:srgbClr val="C5D4E8"/>
                </a:solidFill>
                <a:latin typeface="Calibri"/>
              </a:rPr>
              <a:t>Code CAD is easy. Shop drawings are not.</a:t>
            </a:r>
          </a:p>
        </p:txBody>
      </p:sp>
      <p:sp>
        <p:nvSpPr>
          <p:cNvPr id="5" name="Rectangle 4"/>
          <p:cNvSpPr/>
          <p:nvPr/>
        </p:nvSpPr>
        <p:spPr>
          <a:xfrm>
            <a:off x="0" y="960120"/>
            <a:ext cx="12191695"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34440"/>
            <a:ext cx="11247120" cy="5029200"/>
          </a:xfrm>
          <a:prstGeom prst="rect">
            <a:avLst/>
          </a:prstGeom>
          <a:noFill/>
        </p:spPr>
        <p:txBody>
          <a:bodyPr wrap="square">
            <a:spAutoFit/>
          </a:bodyPr>
          <a:lstStyle/>
          <a:p>
            <a:pPr>
              <a:spcAft>
                <a:spcPts val="1000"/>
              </a:spcAft>
            </a:pPr>
            <a:r>
              <a:rPr sz="1700" b="0">
                <a:solidFill>
                  <a:srgbClr val="1A1A1A"/>
                </a:solidFill>
                <a:latin typeface="Calibri"/>
              </a:rPr>
              <a:t>We already design parts in OpenSCAD — text files that describe 3D geometry in code.</a:t>
            </a:r>
          </a:p>
          <a:p>
            <a:pPr>
              <a:spcAft>
                <a:spcPts val="1000"/>
              </a:spcAft>
            </a:pPr>
            <a:r>
              <a:rPr sz="1700" b="0">
                <a:solidFill>
                  <a:srgbClr val="1A1A1A"/>
                </a:solidFill>
                <a:latin typeface="Calibri"/>
              </a:rPr>
              <a:t>OpenSCAD is excellent for parametric models and 3D printing. Its native export is STL: a triangle mesh.</a:t>
            </a:r>
          </a:p>
          <a:p>
            <a:pPr>
              <a:spcAft>
                <a:spcPts val="1000"/>
              </a:spcAft>
            </a:pPr>
            <a:r>
              <a:rPr sz="1700" b="0">
                <a:solidFill>
                  <a:srgbClr val="1A1A1A"/>
                </a:solidFill>
                <a:latin typeface="Calibri"/>
              </a:rPr>
              <a:t>Manufacturing, inspection, and CAD handoff want something else: a 2D engineering drawing (views, dimensions, title block) and often a STEP solid that Fusion, SolidWorks, or Onshape can edit.</a:t>
            </a:r>
          </a:p>
          <a:p>
            <a:pPr>
              <a:spcAft>
                <a:spcPts val="1000"/>
              </a:spcAft>
            </a:pPr>
            <a:r>
              <a:rPr sz="1700" b="0">
                <a:solidFill>
                  <a:srgbClr val="1A1A1A"/>
                </a:solidFill>
                <a:latin typeface="Calibri"/>
              </a:rPr>
              <a:t>Until now the path was: convert SCAD → STEP in Colab, then import into Onshape and draft the sheet by hand.</a:t>
            </a:r>
          </a:p>
          <a:p>
            <a:pPr>
              <a:spcAft>
                <a:spcPts val="1000"/>
              </a:spcAft>
            </a:pPr>
            <a:r>
              <a:rPr sz="1700" b="0">
                <a:solidFill>
                  <a:srgbClr val="1A1A1A"/>
                </a:solidFill>
                <a:latin typeface="Calibri"/>
              </a:rPr>
              <a:t>V1 automates the drawing for a single part, in the same Colab workflow, without rewriting the OpenSCAD models.</a:t>
            </a:r>
          </a:p>
        </p:txBody>
      </p:sp>
      <p:sp>
        <p:nvSpPr>
          <p:cNvPr id="7" name="Rectangle 6"/>
          <p:cNvSpPr/>
          <p:nvPr/>
        </p:nvSpPr>
        <p:spPr>
          <a:xfrm>
            <a:off x="457200" y="6537960"/>
            <a:ext cx="11247120" cy="13716"/>
          </a:xfrm>
          <a:prstGeom prst="rect">
            <a:avLst/>
          </a:prstGeom>
          <a:solidFill>
            <a:srgbClr val="D0D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83680"/>
            <a:ext cx="8229600" cy="228600"/>
          </a:xfrm>
          <a:prstGeom prst="rect">
            <a:avLst/>
          </a:prstGeom>
          <a:noFill/>
        </p:spPr>
        <p:txBody>
          <a:bodyPr wrap="none">
            <a:spAutoFit/>
          </a:bodyPr>
          <a:lstStyle/>
          <a:p>
            <a:r>
              <a:rPr sz="1100" b="0">
                <a:solidFill>
                  <a:srgbClr val="5A5A5A"/>
                </a:solidFill>
                <a:latin typeface="Calibri"/>
              </a:rPr>
              <a:t>scad2drawing  ·  V1 briefing</a:t>
            </a:r>
          </a:p>
        </p:txBody>
      </p:sp>
      <p:sp>
        <p:nvSpPr>
          <p:cNvPr id="9" name="TextBox 8"/>
          <p:cNvSpPr txBox="1"/>
          <p:nvPr/>
        </p:nvSpPr>
        <p:spPr>
          <a:xfrm>
            <a:off x="9601200" y="6583680"/>
            <a:ext cx="2103120" cy="228600"/>
          </a:xfrm>
          <a:prstGeom prst="rect">
            <a:avLst/>
          </a:prstGeom>
          <a:noFill/>
        </p:spPr>
        <p:txBody>
          <a:bodyPr wrap="none">
            <a:spAutoFit/>
          </a:bodyPr>
          <a:lstStyle/>
          <a:p>
            <a:pPr algn="r"/>
            <a:r>
              <a:rPr sz="1100" b="0">
                <a:solidFill>
                  <a:srgbClr val="5A5A5A"/>
                </a:solidFill>
                <a:latin typeface="Calibri"/>
              </a:rP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457200"/>
          </a:xfrm>
          <a:prstGeom prst="rect">
            <a:avLst/>
          </a:prstGeom>
          <a:noFill/>
        </p:spPr>
        <p:txBody>
          <a:bodyPr wrap="none">
            <a:spAutoFit/>
          </a:bodyPr>
          <a:lstStyle/>
          <a:p>
            <a:r>
              <a:rPr sz="2600" b="1">
                <a:solidFill>
                  <a:srgbClr val="FFFFFF"/>
                </a:solidFill>
                <a:latin typeface="Calibri"/>
              </a:rPr>
              <a:t>V1 in one picture</a:t>
            </a:r>
          </a:p>
        </p:txBody>
      </p:sp>
      <p:sp>
        <p:nvSpPr>
          <p:cNvPr id="4" name="TextBox 3"/>
          <p:cNvSpPr txBox="1"/>
          <p:nvPr/>
        </p:nvSpPr>
        <p:spPr>
          <a:xfrm>
            <a:off x="457200" y="585216"/>
            <a:ext cx="11247120" cy="292608"/>
          </a:xfrm>
          <a:prstGeom prst="rect">
            <a:avLst/>
          </a:prstGeom>
          <a:noFill/>
        </p:spPr>
        <p:txBody>
          <a:bodyPr wrap="none">
            <a:spAutoFit/>
          </a:bodyPr>
          <a:lstStyle/>
          <a:p>
            <a:r>
              <a:rPr sz="1300" b="0">
                <a:solidFill>
                  <a:srgbClr val="C5D4E8"/>
                </a:solidFill>
                <a:latin typeface="Calibri"/>
              </a:rPr>
              <a:t>Two existing open-source tools, glued. We did not merge their source.</a:t>
            </a:r>
          </a:p>
        </p:txBody>
      </p:sp>
      <p:sp>
        <p:nvSpPr>
          <p:cNvPr id="5" name="Rectangle 4"/>
          <p:cNvSpPr/>
          <p:nvPr/>
        </p:nvSpPr>
        <p:spPr>
          <a:xfrm>
            <a:off x="0" y="960120"/>
            <a:ext cx="12191695"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65760" y="1828800"/>
            <a:ext cx="1965960" cy="1051560"/>
          </a:xfrm>
          <a:prstGeom prst="roundRect">
            <a:avLst>
              <a:gd name="adj" fmla="val 12000"/>
            </a:avLst>
          </a:prstGeom>
          <a:solidFill>
            <a:srgbClr val="2E5A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2029968"/>
            <a:ext cx="1965960" cy="777240"/>
          </a:xfrm>
          <a:prstGeom prst="rect">
            <a:avLst/>
          </a:prstGeom>
          <a:noFill/>
        </p:spPr>
        <p:txBody>
          <a:bodyPr wrap="square">
            <a:spAutoFit/>
          </a:bodyPr>
          <a:lstStyle/>
          <a:p>
            <a:pPr algn="ctr"/>
            <a:r>
              <a:rPr sz="1400" b="1">
                <a:solidFill>
                  <a:srgbClr val="FFFFFF"/>
                </a:solidFill>
                <a:latin typeface="Calibri"/>
              </a:rPr>
              <a:t>OpenSCAD
.scad</a:t>
            </a:r>
          </a:p>
        </p:txBody>
      </p:sp>
      <p:sp>
        <p:nvSpPr>
          <p:cNvPr id="8" name="Right Arrow 7"/>
          <p:cNvSpPr/>
          <p:nvPr/>
        </p:nvSpPr>
        <p:spPr>
          <a:xfrm>
            <a:off x="2359152" y="2212848"/>
            <a:ext cx="292608" cy="256032"/>
          </a:xfrm>
          <a:prstGeom prst="rightArrow">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80360" y="1828800"/>
            <a:ext cx="1965960" cy="1051560"/>
          </a:xfrm>
          <a:prstGeom prst="roundRect">
            <a:avLst>
              <a:gd name="adj" fmla="val 12000"/>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80360" y="2029968"/>
            <a:ext cx="1965960" cy="777240"/>
          </a:xfrm>
          <a:prstGeom prst="rect">
            <a:avLst/>
          </a:prstGeom>
          <a:noFill/>
        </p:spPr>
        <p:txBody>
          <a:bodyPr wrap="square">
            <a:spAutoFit/>
          </a:bodyPr>
          <a:lstStyle/>
          <a:p>
            <a:pPr algn="ctr"/>
            <a:r>
              <a:rPr sz="1400" b="1">
                <a:solidFill>
                  <a:srgbClr val="FFFFFF"/>
                </a:solidFill>
                <a:latin typeface="Calibri"/>
              </a:rPr>
              <a:t>scad2step
(scad123d)</a:t>
            </a:r>
          </a:p>
        </p:txBody>
      </p:sp>
      <p:sp>
        <p:nvSpPr>
          <p:cNvPr id="11" name="Right Arrow 10"/>
          <p:cNvSpPr/>
          <p:nvPr/>
        </p:nvSpPr>
        <p:spPr>
          <a:xfrm>
            <a:off x="4873752" y="2212848"/>
            <a:ext cx="292608" cy="256032"/>
          </a:xfrm>
          <a:prstGeom prst="rightArrow">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394960" y="1828800"/>
            <a:ext cx="1965960" cy="1051560"/>
          </a:xfrm>
          <a:prstGeom prst="roundRect">
            <a:avLst>
              <a:gd name="adj" fmla="val 12000"/>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94960" y="2029968"/>
            <a:ext cx="1965960" cy="777240"/>
          </a:xfrm>
          <a:prstGeom prst="rect">
            <a:avLst/>
          </a:prstGeom>
          <a:noFill/>
        </p:spPr>
        <p:txBody>
          <a:bodyPr wrap="square">
            <a:spAutoFit/>
          </a:bodyPr>
          <a:lstStyle/>
          <a:p>
            <a:pPr algn="ctr"/>
            <a:r>
              <a:rPr sz="1400" b="1">
                <a:solidFill>
                  <a:srgbClr val="FFFFFF"/>
                </a:solidFill>
                <a:latin typeface="Calibri"/>
              </a:rPr>
              <a:t>STEP
solid file</a:t>
            </a:r>
          </a:p>
        </p:txBody>
      </p:sp>
      <p:sp>
        <p:nvSpPr>
          <p:cNvPr id="14" name="Right Arrow 13"/>
          <p:cNvSpPr/>
          <p:nvPr/>
        </p:nvSpPr>
        <p:spPr>
          <a:xfrm>
            <a:off x="7388352" y="2212848"/>
            <a:ext cx="292608" cy="256032"/>
          </a:xfrm>
          <a:prstGeom prst="rightArrow">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909560" y="1828800"/>
            <a:ext cx="1965960" cy="1051560"/>
          </a:xfrm>
          <a:prstGeom prst="roundRect">
            <a:avLst>
              <a:gd name="adj" fmla="val 12000"/>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029968"/>
            <a:ext cx="1965960" cy="777240"/>
          </a:xfrm>
          <a:prstGeom prst="rect">
            <a:avLst/>
          </a:prstGeom>
          <a:noFill/>
        </p:spPr>
        <p:txBody>
          <a:bodyPr wrap="square">
            <a:spAutoFit/>
          </a:bodyPr>
          <a:lstStyle/>
          <a:p>
            <a:pPr algn="ctr"/>
            <a:r>
              <a:rPr sz="1400" b="1">
                <a:solidFill>
                  <a:srgbClr val="FFFFFF"/>
                </a:solidFill>
                <a:latin typeface="Calibri"/>
              </a:rPr>
              <a:t>draftwright</a:t>
            </a:r>
          </a:p>
        </p:txBody>
      </p:sp>
      <p:sp>
        <p:nvSpPr>
          <p:cNvPr id="17" name="Right Arrow 16"/>
          <p:cNvSpPr/>
          <p:nvPr/>
        </p:nvSpPr>
        <p:spPr>
          <a:xfrm>
            <a:off x="9902952" y="2212848"/>
            <a:ext cx="292608" cy="256032"/>
          </a:xfrm>
          <a:prstGeom prst="rightArrow">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95560" y="1828800"/>
            <a:ext cx="1965960" cy="1051560"/>
          </a:xfrm>
          <a:prstGeom prst="roundRect">
            <a:avLst>
              <a:gd name="adj" fmla="val 12000"/>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95560" y="2029968"/>
            <a:ext cx="1965960" cy="777240"/>
          </a:xfrm>
          <a:prstGeom prst="rect">
            <a:avLst/>
          </a:prstGeom>
          <a:noFill/>
        </p:spPr>
        <p:txBody>
          <a:bodyPr wrap="square">
            <a:spAutoFit/>
          </a:bodyPr>
          <a:lstStyle/>
          <a:p>
            <a:pPr algn="ctr"/>
            <a:r>
              <a:rPr sz="1400" b="1">
                <a:solidFill>
                  <a:srgbClr val="FFFFFF"/>
                </a:solidFill>
                <a:latin typeface="Calibri"/>
              </a:rPr>
              <a:t>PDF / SVG
drawing</a:t>
            </a:r>
          </a:p>
        </p:txBody>
      </p:sp>
      <p:sp>
        <p:nvSpPr>
          <p:cNvPr id="20" name="TextBox 19"/>
          <p:cNvSpPr txBox="1"/>
          <p:nvPr/>
        </p:nvSpPr>
        <p:spPr>
          <a:xfrm>
            <a:off x="457200" y="3200400"/>
            <a:ext cx="11247120" cy="5029200"/>
          </a:xfrm>
          <a:prstGeom prst="rect">
            <a:avLst/>
          </a:prstGeom>
          <a:noFill/>
        </p:spPr>
        <p:txBody>
          <a:bodyPr wrap="square">
            <a:spAutoFit/>
          </a:bodyPr>
          <a:lstStyle/>
          <a:p>
            <a:pPr>
              <a:spcAft>
                <a:spcPts val="1000"/>
              </a:spcAft>
            </a:pPr>
            <a:r>
              <a:rPr sz="1600" b="0">
                <a:solidFill>
                  <a:srgbClr val="1A1A1A"/>
                </a:solidFill>
                <a:latin typeface="Calibri"/>
              </a:rPr>
              <a:t>Left to right: the user’s .scad file is evaluated by real OpenSCAD, rebuilt as exact solid geometry, written as STEP, then auto-drafted.</a:t>
            </a:r>
          </a:p>
          <a:p>
            <a:pPr>
              <a:spcAft>
                <a:spcPts val="1000"/>
              </a:spcAft>
            </a:pPr>
            <a:r>
              <a:rPr sz="1600" b="0">
                <a:solidFill>
                  <a:srgbClr val="1A1A1A"/>
                </a:solidFill>
                <a:latin typeface="Calibri"/>
              </a:rPr>
              <a:t>Google Colab is the place this runs (browser, no local CAD install). CPU runtime is enough; GPU is unused.</a:t>
            </a:r>
          </a:p>
          <a:p>
            <a:pPr>
              <a:spcAft>
                <a:spcPts val="1000"/>
              </a:spcAft>
            </a:pPr>
            <a:r>
              <a:rPr sz="1600" b="0">
                <a:solidFill>
                  <a:srgbClr val="1A1A1A"/>
                </a:solidFill>
                <a:latin typeface="Calibri"/>
              </a:rPr>
              <a:t>This repository is glue: a notebook, a small command-line wrapper, samples, and an SOP. The CAD engines stay in their own projects.</a:t>
            </a:r>
          </a:p>
        </p:txBody>
      </p:sp>
      <p:sp>
        <p:nvSpPr>
          <p:cNvPr id="21" name="Rectangle 20"/>
          <p:cNvSpPr/>
          <p:nvPr/>
        </p:nvSpPr>
        <p:spPr>
          <a:xfrm>
            <a:off x="457200" y="6537960"/>
            <a:ext cx="11247120" cy="13716"/>
          </a:xfrm>
          <a:prstGeom prst="rect">
            <a:avLst/>
          </a:prstGeom>
          <a:solidFill>
            <a:srgbClr val="D0D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6583680"/>
            <a:ext cx="8229600" cy="228600"/>
          </a:xfrm>
          <a:prstGeom prst="rect">
            <a:avLst/>
          </a:prstGeom>
          <a:noFill/>
        </p:spPr>
        <p:txBody>
          <a:bodyPr wrap="none">
            <a:spAutoFit/>
          </a:bodyPr>
          <a:lstStyle/>
          <a:p>
            <a:r>
              <a:rPr sz="1100" b="0">
                <a:solidFill>
                  <a:srgbClr val="5A5A5A"/>
                </a:solidFill>
                <a:latin typeface="Calibri"/>
              </a:rPr>
              <a:t>scad2drawing  ·  V1 briefing</a:t>
            </a:r>
          </a:p>
        </p:txBody>
      </p:sp>
      <p:sp>
        <p:nvSpPr>
          <p:cNvPr id="23" name="TextBox 22"/>
          <p:cNvSpPr txBox="1"/>
          <p:nvPr/>
        </p:nvSpPr>
        <p:spPr>
          <a:xfrm>
            <a:off x="9601200" y="6583680"/>
            <a:ext cx="2103120" cy="228600"/>
          </a:xfrm>
          <a:prstGeom prst="rect">
            <a:avLst/>
          </a:prstGeom>
          <a:noFill/>
        </p:spPr>
        <p:txBody>
          <a:bodyPr wrap="none">
            <a:spAutoFit/>
          </a:bodyPr>
          <a:lstStyle/>
          <a:p>
            <a:pPr algn="r"/>
            <a:r>
              <a:rPr sz="1100" b="0">
                <a:solidFill>
                  <a:srgbClr val="5A5A5A"/>
                </a:solidFill>
                <a:latin typeface="Calibri"/>
              </a:rP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457200"/>
          </a:xfrm>
          <a:prstGeom prst="rect">
            <a:avLst/>
          </a:prstGeom>
          <a:noFill/>
        </p:spPr>
        <p:txBody>
          <a:bodyPr wrap="none">
            <a:spAutoFit/>
          </a:bodyPr>
          <a:lstStyle/>
          <a:p>
            <a:r>
              <a:rPr sz="2600" b="1">
                <a:solidFill>
                  <a:srgbClr val="FFFFFF"/>
                </a:solidFill>
                <a:latin typeface="Calibri"/>
              </a:rPr>
              <a:t>OpenSCAD</a:t>
            </a:r>
          </a:p>
        </p:txBody>
      </p:sp>
      <p:sp>
        <p:nvSpPr>
          <p:cNvPr id="4" name="TextBox 3"/>
          <p:cNvSpPr txBox="1"/>
          <p:nvPr/>
        </p:nvSpPr>
        <p:spPr>
          <a:xfrm>
            <a:off x="457200" y="585216"/>
            <a:ext cx="11247120" cy="292608"/>
          </a:xfrm>
          <a:prstGeom prst="rect">
            <a:avLst/>
          </a:prstGeom>
          <a:noFill/>
        </p:spPr>
        <p:txBody>
          <a:bodyPr wrap="none">
            <a:spAutoFit/>
          </a:bodyPr>
          <a:lstStyle/>
          <a:p>
            <a:r>
              <a:rPr sz="1300" b="0">
                <a:solidFill>
                  <a:srgbClr val="C5D4E8"/>
                </a:solidFill>
                <a:latin typeface="Calibri"/>
              </a:rPr>
              <a:t>The modelling language we start from</a:t>
            </a:r>
          </a:p>
        </p:txBody>
      </p:sp>
      <p:sp>
        <p:nvSpPr>
          <p:cNvPr id="5" name="Rectangle 4"/>
          <p:cNvSpPr/>
          <p:nvPr/>
        </p:nvSpPr>
        <p:spPr>
          <a:xfrm>
            <a:off x="0" y="960120"/>
            <a:ext cx="12191695"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34440"/>
            <a:ext cx="11247120" cy="5029200"/>
          </a:xfrm>
          <a:prstGeom prst="rect">
            <a:avLst/>
          </a:prstGeom>
          <a:noFill/>
        </p:spPr>
        <p:txBody>
          <a:bodyPr wrap="square">
            <a:spAutoFit/>
          </a:bodyPr>
          <a:lstStyle/>
          <a:p>
            <a:pPr>
              <a:spcAft>
                <a:spcPts val="1000"/>
              </a:spcAft>
            </a:pPr>
            <a:r>
              <a:rPr sz="1600" b="0">
                <a:solidFill>
                  <a:srgbClr val="1A1A1A"/>
                </a:solidFill>
                <a:latin typeface="Calibri"/>
              </a:rPr>
              <a:t>What it is: a free, script-based 3D CAD program (openscad.org). You write a .scad file; it renders a solid. Very common in 3D-printing and parametric hardware.</a:t>
            </a:r>
          </a:p>
          <a:p>
            <a:pPr>
              <a:spcAft>
                <a:spcPts val="1000"/>
              </a:spcAft>
            </a:pPr>
            <a:r>
              <a:rPr sz="1600" b="0">
                <a:solidFill>
                  <a:srgbClr val="1A1A1A"/>
                </a:solidFill>
                <a:latin typeface="Calibri"/>
              </a:rPr>
              <a:t>Why we use it: existing parts, libraries (BOSL2, MCAD), and Customizer parameters (-D part=frame) already live here.</a:t>
            </a:r>
          </a:p>
          <a:p>
            <a:pPr>
              <a:spcAft>
                <a:spcPts val="1000"/>
              </a:spcAft>
            </a:pPr>
            <a:r>
              <a:rPr sz="1600" b="0">
                <a:solidFill>
                  <a:srgbClr val="1A1A1A"/>
                </a:solidFill>
                <a:latin typeface="Calibri"/>
              </a:rPr>
              <a:t>What it is not: a 2D drafting package. It has no first-class engineering-drawing, GD&amp;T, or PMI. Export is typically STL (triangles).</a:t>
            </a:r>
          </a:p>
          <a:p>
            <a:pPr>
              <a:spcAft>
                <a:spcPts val="1000"/>
              </a:spcAft>
            </a:pPr>
            <a:r>
              <a:rPr sz="1600" b="0">
                <a:solidFill>
                  <a:srgbClr val="1A1A1A"/>
                </a:solidFill>
                <a:latin typeface="Calibri"/>
              </a:rPr>
              <a:t>In Colab we install the Linux package (currently OpenSCAD 2021.01). Conversion uses the command line, not the GUI. A display is only needed for PNG previews.</a:t>
            </a:r>
          </a:p>
          <a:p>
            <a:pPr>
              <a:spcAft>
                <a:spcPts val="1000"/>
              </a:spcAft>
            </a:pPr>
            <a:r>
              <a:rPr sz="1600" b="0">
                <a:solidFill>
                  <a:srgbClr val="1A1A1A"/>
                </a:solidFill>
                <a:latin typeface="Calibri"/>
              </a:rPr>
              <a:t>License: GPL-2.0-or-later. We run the official binary; we do not ship OpenSCAD source in this repo.</a:t>
            </a:r>
          </a:p>
        </p:txBody>
      </p:sp>
      <p:sp>
        <p:nvSpPr>
          <p:cNvPr id="7" name="Rectangle 6"/>
          <p:cNvSpPr/>
          <p:nvPr/>
        </p:nvSpPr>
        <p:spPr>
          <a:xfrm>
            <a:off x="457200" y="6537960"/>
            <a:ext cx="11247120" cy="13716"/>
          </a:xfrm>
          <a:prstGeom prst="rect">
            <a:avLst/>
          </a:prstGeom>
          <a:solidFill>
            <a:srgbClr val="D0D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83680"/>
            <a:ext cx="8229600" cy="228600"/>
          </a:xfrm>
          <a:prstGeom prst="rect">
            <a:avLst/>
          </a:prstGeom>
          <a:noFill/>
        </p:spPr>
        <p:txBody>
          <a:bodyPr wrap="none">
            <a:spAutoFit/>
          </a:bodyPr>
          <a:lstStyle/>
          <a:p>
            <a:r>
              <a:rPr sz="1100" b="0">
                <a:solidFill>
                  <a:srgbClr val="5A5A5A"/>
                </a:solidFill>
                <a:latin typeface="Calibri"/>
              </a:rPr>
              <a:t>scad2drawing  ·  V1 briefing</a:t>
            </a:r>
          </a:p>
        </p:txBody>
      </p:sp>
      <p:sp>
        <p:nvSpPr>
          <p:cNvPr id="9" name="TextBox 8"/>
          <p:cNvSpPr txBox="1"/>
          <p:nvPr/>
        </p:nvSpPr>
        <p:spPr>
          <a:xfrm>
            <a:off x="9601200" y="6583680"/>
            <a:ext cx="2103120" cy="228600"/>
          </a:xfrm>
          <a:prstGeom prst="rect">
            <a:avLst/>
          </a:prstGeom>
          <a:noFill/>
        </p:spPr>
        <p:txBody>
          <a:bodyPr wrap="none">
            <a:spAutoFit/>
          </a:bodyPr>
          <a:lstStyle/>
          <a:p>
            <a:pPr algn="r"/>
            <a:r>
              <a:rPr sz="1100" b="0">
                <a:solidFill>
                  <a:srgbClr val="5A5A5A"/>
                </a:solidFill>
                <a:latin typeface="Calibri"/>
              </a:rP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457200"/>
          </a:xfrm>
          <a:prstGeom prst="rect">
            <a:avLst/>
          </a:prstGeom>
          <a:noFill/>
        </p:spPr>
        <p:txBody>
          <a:bodyPr wrap="none">
            <a:spAutoFit/>
          </a:bodyPr>
          <a:lstStyle/>
          <a:p>
            <a:r>
              <a:rPr sz="2600" b="1">
                <a:solidFill>
                  <a:srgbClr val="FFFFFF"/>
                </a:solidFill>
                <a:latin typeface="Calibri"/>
              </a:rPr>
              <a:t>STL vs STEP</a:t>
            </a:r>
          </a:p>
        </p:txBody>
      </p:sp>
      <p:sp>
        <p:nvSpPr>
          <p:cNvPr id="4" name="TextBox 3"/>
          <p:cNvSpPr txBox="1"/>
          <p:nvPr/>
        </p:nvSpPr>
        <p:spPr>
          <a:xfrm>
            <a:off x="457200" y="585216"/>
            <a:ext cx="11247120" cy="292608"/>
          </a:xfrm>
          <a:prstGeom prst="rect">
            <a:avLst/>
          </a:prstGeom>
          <a:noFill/>
        </p:spPr>
        <p:txBody>
          <a:bodyPr wrap="none">
            <a:spAutoFit/>
          </a:bodyPr>
          <a:lstStyle/>
          <a:p>
            <a:r>
              <a:rPr sz="1300" b="0">
                <a:solidFill>
                  <a:srgbClr val="C5D4E8"/>
                </a:solidFill>
                <a:latin typeface="Calibri"/>
              </a:rPr>
              <a:t>Why we bother converting before we draw</a:t>
            </a:r>
          </a:p>
        </p:txBody>
      </p:sp>
      <p:sp>
        <p:nvSpPr>
          <p:cNvPr id="5" name="Rectangle 4"/>
          <p:cNvSpPr/>
          <p:nvPr/>
        </p:nvSpPr>
        <p:spPr>
          <a:xfrm>
            <a:off x="0" y="960120"/>
            <a:ext cx="12191695"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280160"/>
            <a:ext cx="5394960" cy="484632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389888"/>
            <a:ext cx="5065776" cy="365760"/>
          </a:xfrm>
          <a:prstGeom prst="rect">
            <a:avLst/>
          </a:prstGeom>
          <a:noFill/>
        </p:spPr>
        <p:txBody>
          <a:bodyPr wrap="none">
            <a:spAutoFit/>
          </a:bodyPr>
          <a:lstStyle/>
          <a:p>
            <a:r>
              <a:rPr sz="1600" b="1">
                <a:solidFill>
                  <a:srgbClr val="1B365D"/>
                </a:solidFill>
                <a:latin typeface="Calibri"/>
              </a:rPr>
              <a:t>STL (what OpenSCAD exports)</a:t>
            </a:r>
          </a:p>
        </p:txBody>
      </p:sp>
      <p:sp>
        <p:nvSpPr>
          <p:cNvPr id="8" name="TextBox 7"/>
          <p:cNvSpPr txBox="1"/>
          <p:nvPr/>
        </p:nvSpPr>
        <p:spPr>
          <a:xfrm>
            <a:off x="621792" y="1737360"/>
            <a:ext cx="5065776" cy="4251959"/>
          </a:xfrm>
          <a:prstGeom prst="rect">
            <a:avLst/>
          </a:prstGeom>
          <a:noFill/>
        </p:spPr>
        <p:txBody>
          <a:bodyPr wrap="square">
            <a:spAutoFit/>
          </a:bodyPr>
          <a:lstStyle/>
          <a:p>
            <a:r>
              <a:rPr sz="1300" b="0">
                <a:solidFill>
                  <a:srgbClr val="1A1A1A"/>
                </a:solidFill>
                <a:latin typeface="Calibri"/>
              </a:rPr>
              <a:t>A mesh of flat triangles. A cylinder becomes dozens of flat sides. Fine for a printer. Poor for CAD: you cannot fillet a real cylinder, dimensions land on fake edges, and Onshape/SolidWorks treat it as a dumb body.</a:t>
            </a:r>
          </a:p>
        </p:txBody>
      </p:sp>
      <p:sp>
        <p:nvSpPr>
          <p:cNvPr id="9" name="Rounded Rectangle 8"/>
          <p:cNvSpPr/>
          <p:nvPr/>
        </p:nvSpPr>
        <p:spPr>
          <a:xfrm>
            <a:off x="6309360" y="1280160"/>
            <a:ext cx="5394960" cy="484632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3952" y="1389888"/>
            <a:ext cx="5065776" cy="365760"/>
          </a:xfrm>
          <a:prstGeom prst="rect">
            <a:avLst/>
          </a:prstGeom>
          <a:noFill/>
        </p:spPr>
        <p:txBody>
          <a:bodyPr wrap="none">
            <a:spAutoFit/>
          </a:bodyPr>
          <a:lstStyle/>
          <a:p>
            <a:r>
              <a:rPr sz="1600" b="1">
                <a:solidFill>
                  <a:srgbClr val="1B365D"/>
                </a:solidFill>
                <a:latin typeface="Calibri"/>
              </a:rPr>
              <a:t>STEP / ISO 10303 (what we want)</a:t>
            </a:r>
          </a:p>
        </p:txBody>
      </p:sp>
      <p:sp>
        <p:nvSpPr>
          <p:cNvPr id="11" name="TextBox 10"/>
          <p:cNvSpPr txBox="1"/>
          <p:nvPr/>
        </p:nvSpPr>
        <p:spPr>
          <a:xfrm>
            <a:off x="6473952" y="1737360"/>
            <a:ext cx="5065776" cy="4251959"/>
          </a:xfrm>
          <a:prstGeom prst="rect">
            <a:avLst/>
          </a:prstGeom>
          <a:noFill/>
        </p:spPr>
        <p:txBody>
          <a:bodyPr wrap="square">
            <a:spAutoFit/>
          </a:bodyPr>
          <a:lstStyle/>
          <a:p>
            <a:r>
              <a:rPr sz="1300" b="0">
                <a:solidFill>
                  <a:srgbClr val="1A1A1A"/>
                </a:solidFill>
                <a:latin typeface="Calibri"/>
              </a:rPr>
              <a:t>A B-Rep solid: cylinders stay cylinders, holes stay round. Fusion 360, SolidWorks, FreeCAD, and Onshape import it as real geometry. That is also what an auto-dimensioner needs — otherwise every mesh facet looks like an edge to measure.</a:t>
            </a:r>
          </a:p>
        </p:txBody>
      </p:sp>
      <p:sp>
        <p:nvSpPr>
          <p:cNvPr id="12" name="Rectangle 11"/>
          <p:cNvSpPr/>
          <p:nvPr/>
        </p:nvSpPr>
        <p:spPr>
          <a:xfrm>
            <a:off x="457200" y="6537960"/>
            <a:ext cx="11247120" cy="13716"/>
          </a:xfrm>
          <a:prstGeom prst="rect">
            <a:avLst/>
          </a:prstGeom>
          <a:solidFill>
            <a:srgbClr val="D0D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583680"/>
            <a:ext cx="8229600" cy="228600"/>
          </a:xfrm>
          <a:prstGeom prst="rect">
            <a:avLst/>
          </a:prstGeom>
          <a:noFill/>
        </p:spPr>
        <p:txBody>
          <a:bodyPr wrap="none">
            <a:spAutoFit/>
          </a:bodyPr>
          <a:lstStyle/>
          <a:p>
            <a:r>
              <a:rPr sz="1100" b="0">
                <a:solidFill>
                  <a:srgbClr val="5A5A5A"/>
                </a:solidFill>
                <a:latin typeface="Calibri"/>
              </a:rPr>
              <a:t>scad2drawing  ·  V1 briefing</a:t>
            </a:r>
          </a:p>
        </p:txBody>
      </p:sp>
      <p:sp>
        <p:nvSpPr>
          <p:cNvPr id="14" name="TextBox 13"/>
          <p:cNvSpPr txBox="1"/>
          <p:nvPr/>
        </p:nvSpPr>
        <p:spPr>
          <a:xfrm>
            <a:off x="9601200" y="6583680"/>
            <a:ext cx="2103120" cy="228600"/>
          </a:xfrm>
          <a:prstGeom prst="rect">
            <a:avLst/>
          </a:prstGeom>
          <a:noFill/>
        </p:spPr>
        <p:txBody>
          <a:bodyPr wrap="none">
            <a:spAutoFit/>
          </a:bodyPr>
          <a:lstStyle/>
          <a:p>
            <a:pPr algn="r"/>
            <a:r>
              <a:rPr sz="1100" b="0">
                <a:solidFill>
                  <a:srgbClr val="5A5A5A"/>
                </a:solidFill>
                <a:latin typeface="Calibri"/>
              </a:rP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457200"/>
          </a:xfrm>
          <a:prstGeom prst="rect">
            <a:avLst/>
          </a:prstGeom>
          <a:noFill/>
        </p:spPr>
        <p:txBody>
          <a:bodyPr wrap="none">
            <a:spAutoFit/>
          </a:bodyPr>
          <a:lstStyle/>
          <a:p>
            <a:r>
              <a:rPr sz="2600" b="1">
                <a:solidFill>
                  <a:srgbClr val="FFFFFF"/>
                </a:solidFill>
                <a:latin typeface="Calibri"/>
              </a:rPr>
              <a:t>scad123d and scad2step</a:t>
            </a:r>
          </a:p>
        </p:txBody>
      </p:sp>
      <p:sp>
        <p:nvSpPr>
          <p:cNvPr id="4" name="TextBox 3"/>
          <p:cNvSpPr txBox="1"/>
          <p:nvPr/>
        </p:nvSpPr>
        <p:spPr>
          <a:xfrm>
            <a:off x="457200" y="585216"/>
            <a:ext cx="11247120" cy="292608"/>
          </a:xfrm>
          <a:prstGeom prst="rect">
            <a:avLst/>
          </a:prstGeom>
          <a:noFill/>
        </p:spPr>
        <p:txBody>
          <a:bodyPr wrap="none">
            <a:spAutoFit/>
          </a:bodyPr>
          <a:lstStyle/>
          <a:p>
            <a:r>
              <a:rPr sz="1300" b="0">
                <a:solidFill>
                  <a:srgbClr val="C5D4E8"/>
                </a:solidFill>
                <a:latin typeface="Calibri"/>
              </a:rPr>
              <a:t>Open-source converter: OpenSCAD → STEP</a:t>
            </a:r>
          </a:p>
        </p:txBody>
      </p:sp>
      <p:sp>
        <p:nvSpPr>
          <p:cNvPr id="5" name="Rectangle 4"/>
          <p:cNvSpPr/>
          <p:nvPr/>
        </p:nvSpPr>
        <p:spPr>
          <a:xfrm>
            <a:off x="0" y="960120"/>
            <a:ext cx="12191695"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34440"/>
            <a:ext cx="11247120" cy="5029200"/>
          </a:xfrm>
          <a:prstGeom prst="rect">
            <a:avLst/>
          </a:prstGeom>
          <a:noFill/>
        </p:spPr>
        <p:txBody>
          <a:bodyPr wrap="square">
            <a:spAutoFit/>
          </a:bodyPr>
          <a:lstStyle/>
          <a:p>
            <a:pPr>
              <a:spcAft>
                <a:spcPts val="1000"/>
              </a:spcAft>
            </a:pPr>
            <a:r>
              <a:rPr sz="1500" b="0">
                <a:solidFill>
                  <a:srgbClr val="1A1A1A"/>
                </a:solidFill>
                <a:latin typeface="Calibri"/>
              </a:rPr>
              <a:t>Repos: github.com/etjones/scad123d (engine) and github.com/etjones/scad2step (one-line CLI). MIT license. PyPI packages.</a:t>
            </a:r>
          </a:p>
          <a:p>
            <a:pPr>
              <a:spcAft>
                <a:spcPts val="1000"/>
              </a:spcAft>
            </a:pPr>
            <a:r>
              <a:rPr sz="1500" b="0">
                <a:solidFill>
                  <a:srgbClr val="1A1A1A"/>
                </a:solidFill>
                <a:latin typeface="Calibri"/>
              </a:rPr>
              <a:t>How it works: it runs the real OpenSCAD program so every language feature and library still works, then rebuilds the result on build123d / OpenCASCADE (the same class of solid kernel used in FreeCAD and many CAD tools).</a:t>
            </a:r>
          </a:p>
          <a:p>
            <a:pPr>
              <a:spcAft>
                <a:spcPts val="1000"/>
              </a:spcAft>
            </a:pPr>
            <a:r>
              <a:rPr sz="1500" b="0">
                <a:solidFill>
                  <a:srgbClr val="1A1A1A"/>
                </a:solidFill>
                <a:latin typeface="Calibri"/>
              </a:rPr>
              <a:t>Result: a STEP file with exact curves where the converter understands the operation (cubes, cylinders, spheres, common rounding). Circles stay circles.</a:t>
            </a:r>
          </a:p>
          <a:p>
            <a:pPr>
              <a:spcAft>
                <a:spcPts val="1000"/>
              </a:spcAft>
            </a:pPr>
            <a:r>
              <a:rPr sz="1500" b="0">
                <a:solidFill>
                  <a:srgbClr val="1A1A1A"/>
                </a:solidFill>
                <a:latin typeface="Calibri"/>
              </a:rPr>
              <a:t>Honest limit: some OpenSCAD tricks (hull of many spheres, some minkowski, mesh import) fall back to a triangle mesh. The STEP still writes; drawings of those regions look faceted. V1 prints a warning when that happens.</a:t>
            </a:r>
          </a:p>
          <a:p>
            <a:pPr>
              <a:spcAft>
                <a:spcPts val="1000"/>
              </a:spcAft>
            </a:pPr>
            <a:r>
              <a:rPr sz="1500" b="0">
                <a:solidFill>
                  <a:srgbClr val="1A1A1A"/>
                </a:solidFill>
                <a:latin typeface="Calibri"/>
              </a:rPr>
              <a:t>We call it as a command: uv run scad2step model.scad -o part.step -D part=frame. We do not copy its source into our repo.</a:t>
            </a:r>
          </a:p>
        </p:txBody>
      </p:sp>
      <p:sp>
        <p:nvSpPr>
          <p:cNvPr id="7" name="Rectangle 6"/>
          <p:cNvSpPr/>
          <p:nvPr/>
        </p:nvSpPr>
        <p:spPr>
          <a:xfrm>
            <a:off x="457200" y="6537960"/>
            <a:ext cx="11247120" cy="13716"/>
          </a:xfrm>
          <a:prstGeom prst="rect">
            <a:avLst/>
          </a:prstGeom>
          <a:solidFill>
            <a:srgbClr val="D0D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83680"/>
            <a:ext cx="8229600" cy="228600"/>
          </a:xfrm>
          <a:prstGeom prst="rect">
            <a:avLst/>
          </a:prstGeom>
          <a:noFill/>
        </p:spPr>
        <p:txBody>
          <a:bodyPr wrap="none">
            <a:spAutoFit/>
          </a:bodyPr>
          <a:lstStyle/>
          <a:p>
            <a:r>
              <a:rPr sz="1100" b="0">
                <a:solidFill>
                  <a:srgbClr val="5A5A5A"/>
                </a:solidFill>
                <a:latin typeface="Calibri"/>
              </a:rPr>
              <a:t>scad2drawing  ·  V1 briefing</a:t>
            </a:r>
          </a:p>
        </p:txBody>
      </p:sp>
      <p:sp>
        <p:nvSpPr>
          <p:cNvPr id="9" name="TextBox 8"/>
          <p:cNvSpPr txBox="1"/>
          <p:nvPr/>
        </p:nvSpPr>
        <p:spPr>
          <a:xfrm>
            <a:off x="9601200" y="6583680"/>
            <a:ext cx="2103120" cy="228600"/>
          </a:xfrm>
          <a:prstGeom prst="rect">
            <a:avLst/>
          </a:prstGeom>
          <a:noFill/>
        </p:spPr>
        <p:txBody>
          <a:bodyPr wrap="none">
            <a:spAutoFit/>
          </a:bodyPr>
          <a:lstStyle/>
          <a:p>
            <a:pPr algn="r"/>
            <a:r>
              <a:rPr sz="1100" b="0">
                <a:solidFill>
                  <a:srgbClr val="5A5A5A"/>
                </a:solidFill>
                <a:latin typeface="Calibri"/>
              </a:rP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457200"/>
          </a:xfrm>
          <a:prstGeom prst="rect">
            <a:avLst/>
          </a:prstGeom>
          <a:noFill/>
        </p:spPr>
        <p:txBody>
          <a:bodyPr wrap="none">
            <a:spAutoFit/>
          </a:bodyPr>
          <a:lstStyle/>
          <a:p>
            <a:r>
              <a:rPr sz="2600" b="1">
                <a:solidFill>
                  <a:srgbClr val="FFFFFF"/>
                </a:solidFill>
                <a:latin typeface="Calibri"/>
              </a:rPr>
              <a:t>draftwright</a:t>
            </a:r>
          </a:p>
        </p:txBody>
      </p:sp>
      <p:sp>
        <p:nvSpPr>
          <p:cNvPr id="4" name="TextBox 3"/>
          <p:cNvSpPr txBox="1"/>
          <p:nvPr/>
        </p:nvSpPr>
        <p:spPr>
          <a:xfrm>
            <a:off x="457200" y="585216"/>
            <a:ext cx="11247120" cy="292608"/>
          </a:xfrm>
          <a:prstGeom prst="rect">
            <a:avLst/>
          </a:prstGeom>
          <a:noFill/>
        </p:spPr>
        <p:txBody>
          <a:bodyPr wrap="none">
            <a:spAutoFit/>
          </a:bodyPr>
          <a:lstStyle/>
          <a:p>
            <a:r>
              <a:rPr sz="1300" b="0">
                <a:solidFill>
                  <a:srgbClr val="C5D4E8"/>
                </a:solidFill>
                <a:latin typeface="Calibri"/>
              </a:rPr>
              <a:t>Open-source engine: STEP → dimensioned drawing</a:t>
            </a:r>
          </a:p>
        </p:txBody>
      </p:sp>
      <p:sp>
        <p:nvSpPr>
          <p:cNvPr id="5" name="Rectangle 4"/>
          <p:cNvSpPr/>
          <p:nvPr/>
        </p:nvSpPr>
        <p:spPr>
          <a:xfrm>
            <a:off x="0" y="960120"/>
            <a:ext cx="12191695"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34440"/>
            <a:ext cx="11247120" cy="5029200"/>
          </a:xfrm>
          <a:prstGeom prst="rect">
            <a:avLst/>
          </a:prstGeom>
          <a:noFill/>
        </p:spPr>
        <p:txBody>
          <a:bodyPr wrap="square">
            <a:spAutoFit/>
          </a:bodyPr>
          <a:lstStyle/>
          <a:p>
            <a:pPr>
              <a:spcAft>
                <a:spcPts val="1000"/>
              </a:spcAft>
            </a:pPr>
            <a:r>
              <a:rPr sz="1500" b="0">
                <a:solidFill>
                  <a:srgbClr val="1A1A1A"/>
                </a:solidFill>
                <a:latin typeface="Calibri"/>
              </a:rPr>
              <a:t>Repo: github.com/pzfreo/draftwright  ·  PyPI: draftwright  ·  License: AGPL-3.0 (the author also offers a commercial license).</a:t>
            </a:r>
          </a:p>
          <a:p>
            <a:pPr>
              <a:spcAft>
                <a:spcPts val="1000"/>
              </a:spcAft>
            </a:pPr>
            <a:r>
              <a:rPr sz="1500" b="0">
                <a:solidFill>
                  <a:srgbClr val="1A1A1A"/>
                </a:solidFill>
                <a:latin typeface="Calibri"/>
              </a:rPr>
              <a:t>What it does: reads a solid or a STEP file and produces a multi-view engineering drawing — front/top/side, isometric, automatic scale, hole callouts, section when internals would be hidden, ISO title block. Exports PDF, SVG, DXF.</a:t>
            </a:r>
          </a:p>
          <a:p>
            <a:pPr>
              <a:spcAft>
                <a:spcPts val="1000"/>
              </a:spcAft>
            </a:pPr>
            <a:r>
              <a:rPr sz="1500" b="0">
                <a:solidFill>
                  <a:srgbClr val="1A1A1A"/>
                </a:solidFill>
                <a:latin typeface="Calibri"/>
              </a:rPr>
              <a:t>Same solid kernel family as scad123d (build123d / OpenCASCADE), which is why the two tools chain cleanly at STEP.</a:t>
            </a:r>
          </a:p>
          <a:p>
            <a:pPr>
              <a:spcAft>
                <a:spcPts val="1000"/>
              </a:spcAft>
            </a:pPr>
            <a:r>
              <a:rPr sz="1500" b="0">
                <a:solidFill>
                  <a:srgbClr val="1A1A1A"/>
                </a:solidFill>
                <a:latin typeface="Calibri"/>
              </a:rPr>
              <a:t>What it is not: a replacement for a checker or a full ASME Y14.5 pack. Auto-dimensions are heuristic. Threads, fits, and GD&amp;T that were never in the .scad cannot be invented.</a:t>
            </a:r>
          </a:p>
          <a:p>
            <a:pPr>
              <a:spcAft>
                <a:spcPts val="1000"/>
              </a:spcAft>
            </a:pPr>
            <a:r>
              <a:rPr sz="1500" b="0">
                <a:solidFill>
                  <a:srgbClr val="1A1A1A"/>
                </a:solidFill>
                <a:latin typeface="Calibri"/>
              </a:rPr>
              <a:t>V1 calls the official CLI only (like calling ffmpeg). We do not import it into our Python package, and we do not vendor its source. That keeps our glue MIT and respects AGPL.</a:t>
            </a:r>
          </a:p>
        </p:txBody>
      </p:sp>
      <p:sp>
        <p:nvSpPr>
          <p:cNvPr id="7" name="Rectangle 6"/>
          <p:cNvSpPr/>
          <p:nvPr/>
        </p:nvSpPr>
        <p:spPr>
          <a:xfrm>
            <a:off x="457200" y="6537960"/>
            <a:ext cx="11247120" cy="13716"/>
          </a:xfrm>
          <a:prstGeom prst="rect">
            <a:avLst/>
          </a:prstGeom>
          <a:solidFill>
            <a:srgbClr val="D0D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83680"/>
            <a:ext cx="8229600" cy="228600"/>
          </a:xfrm>
          <a:prstGeom prst="rect">
            <a:avLst/>
          </a:prstGeom>
          <a:noFill/>
        </p:spPr>
        <p:txBody>
          <a:bodyPr wrap="none">
            <a:spAutoFit/>
          </a:bodyPr>
          <a:lstStyle/>
          <a:p>
            <a:r>
              <a:rPr sz="1100" b="0">
                <a:solidFill>
                  <a:srgbClr val="5A5A5A"/>
                </a:solidFill>
                <a:latin typeface="Calibri"/>
              </a:rPr>
              <a:t>scad2drawing  ·  V1 briefing</a:t>
            </a:r>
          </a:p>
        </p:txBody>
      </p:sp>
      <p:sp>
        <p:nvSpPr>
          <p:cNvPr id="9" name="TextBox 8"/>
          <p:cNvSpPr txBox="1"/>
          <p:nvPr/>
        </p:nvSpPr>
        <p:spPr>
          <a:xfrm>
            <a:off x="9601200" y="6583680"/>
            <a:ext cx="2103120" cy="228600"/>
          </a:xfrm>
          <a:prstGeom prst="rect">
            <a:avLst/>
          </a:prstGeom>
          <a:noFill/>
        </p:spPr>
        <p:txBody>
          <a:bodyPr wrap="none">
            <a:spAutoFit/>
          </a:bodyPr>
          <a:lstStyle/>
          <a:p>
            <a:pPr algn="r"/>
            <a:r>
              <a:rPr sz="1100" b="0">
                <a:solidFill>
                  <a:srgbClr val="5A5A5A"/>
                </a:solidFill>
                <a:latin typeface="Calibri"/>
              </a:rP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457200"/>
          </a:xfrm>
          <a:prstGeom prst="rect">
            <a:avLst/>
          </a:prstGeom>
          <a:noFill/>
        </p:spPr>
        <p:txBody>
          <a:bodyPr wrap="none">
            <a:spAutoFit/>
          </a:bodyPr>
          <a:lstStyle/>
          <a:p>
            <a:r>
              <a:rPr sz="2600" b="1">
                <a:solidFill>
                  <a:srgbClr val="FFFFFF"/>
                </a:solidFill>
                <a:latin typeface="Calibri"/>
              </a:rPr>
              <a:t>The rest of the stack</a:t>
            </a:r>
          </a:p>
        </p:txBody>
      </p:sp>
      <p:sp>
        <p:nvSpPr>
          <p:cNvPr id="4" name="TextBox 3"/>
          <p:cNvSpPr txBox="1"/>
          <p:nvPr/>
        </p:nvSpPr>
        <p:spPr>
          <a:xfrm>
            <a:off x="457200" y="585216"/>
            <a:ext cx="11247120" cy="292608"/>
          </a:xfrm>
          <a:prstGeom prst="rect">
            <a:avLst/>
          </a:prstGeom>
          <a:noFill/>
        </p:spPr>
        <p:txBody>
          <a:bodyPr wrap="none">
            <a:spAutoFit/>
          </a:bodyPr>
          <a:lstStyle/>
          <a:p>
            <a:r>
              <a:rPr sz="1300" b="0">
                <a:solidFill>
                  <a:srgbClr val="C5D4E8"/>
                </a:solidFill>
                <a:latin typeface="Calibri"/>
              </a:rPr>
              <a:t>Names you will see in the notebook</a:t>
            </a:r>
          </a:p>
        </p:txBody>
      </p:sp>
      <p:sp>
        <p:nvSpPr>
          <p:cNvPr id="5" name="Rectangle 4"/>
          <p:cNvSpPr/>
          <p:nvPr/>
        </p:nvSpPr>
        <p:spPr>
          <a:xfrm>
            <a:off x="0" y="960120"/>
            <a:ext cx="12191695"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234440"/>
            <a:ext cx="3703320" cy="233172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72" y="1344168"/>
            <a:ext cx="3374136" cy="365760"/>
          </a:xfrm>
          <a:prstGeom prst="rect">
            <a:avLst/>
          </a:prstGeom>
          <a:noFill/>
        </p:spPr>
        <p:txBody>
          <a:bodyPr wrap="none">
            <a:spAutoFit/>
          </a:bodyPr>
          <a:lstStyle/>
          <a:p>
            <a:r>
              <a:rPr sz="1600" b="1">
                <a:solidFill>
                  <a:srgbClr val="1B365D"/>
                </a:solidFill>
                <a:latin typeface="Calibri"/>
              </a:rPr>
              <a:t>Google Colab</a:t>
            </a:r>
          </a:p>
        </p:txBody>
      </p:sp>
      <p:sp>
        <p:nvSpPr>
          <p:cNvPr id="8" name="TextBox 7"/>
          <p:cNvSpPr txBox="1"/>
          <p:nvPr/>
        </p:nvSpPr>
        <p:spPr>
          <a:xfrm>
            <a:off x="576072" y="1691640"/>
            <a:ext cx="3374136" cy="1737360"/>
          </a:xfrm>
          <a:prstGeom prst="rect">
            <a:avLst/>
          </a:prstGeom>
          <a:noFill/>
        </p:spPr>
        <p:txBody>
          <a:bodyPr wrap="square">
            <a:spAutoFit/>
          </a:bodyPr>
          <a:lstStyle/>
          <a:p>
            <a:r>
              <a:rPr sz="1300" b="0">
                <a:solidFill>
                  <a:srgbClr val="1A1A1A"/>
                </a:solidFill>
                <a:latin typeface="Calibri"/>
              </a:rPr>
              <a:t>Free browser notebooks on a temporary Linux VM. No local CAD install. Runtime resets wipe the machine — setup cells must be rerun. CPU is enough.</a:t>
            </a:r>
          </a:p>
        </p:txBody>
      </p:sp>
      <p:sp>
        <p:nvSpPr>
          <p:cNvPr id="9" name="Rounded Rectangle 8"/>
          <p:cNvSpPr/>
          <p:nvPr/>
        </p:nvSpPr>
        <p:spPr>
          <a:xfrm>
            <a:off x="4251960" y="1234440"/>
            <a:ext cx="3703320" cy="233172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16552" y="1344168"/>
            <a:ext cx="3374136" cy="365760"/>
          </a:xfrm>
          <a:prstGeom prst="rect">
            <a:avLst/>
          </a:prstGeom>
          <a:noFill/>
        </p:spPr>
        <p:txBody>
          <a:bodyPr wrap="none">
            <a:spAutoFit/>
          </a:bodyPr>
          <a:lstStyle/>
          <a:p>
            <a:r>
              <a:rPr sz="1600" b="1">
                <a:solidFill>
                  <a:srgbClr val="1B365D"/>
                </a:solidFill>
                <a:latin typeface="Calibri"/>
              </a:rPr>
              <a:t>uv (Astral)</a:t>
            </a:r>
          </a:p>
        </p:txBody>
      </p:sp>
      <p:sp>
        <p:nvSpPr>
          <p:cNvPr id="11" name="TextBox 10"/>
          <p:cNvSpPr txBox="1"/>
          <p:nvPr/>
        </p:nvSpPr>
        <p:spPr>
          <a:xfrm>
            <a:off x="4416552" y="1691640"/>
            <a:ext cx="3374136" cy="1737360"/>
          </a:xfrm>
          <a:prstGeom prst="rect">
            <a:avLst/>
          </a:prstGeom>
          <a:noFill/>
        </p:spPr>
        <p:txBody>
          <a:bodyPr wrap="square">
            <a:spAutoFit/>
          </a:bodyPr>
          <a:lstStyle/>
          <a:p>
            <a:r>
              <a:rPr sz="1300" b="0">
                <a:solidFill>
                  <a:srgbClr val="1A1A1A"/>
                </a:solidFill>
                <a:latin typeface="Calibri"/>
              </a:rPr>
              <a:t>Python package manager. We use uv sync on each cloned repo so OpenCASCADE wheels come from that project’s lockfile. uvx (unlocked) is forbidden — it caused the OCP crash.</a:t>
            </a:r>
          </a:p>
        </p:txBody>
      </p:sp>
      <p:sp>
        <p:nvSpPr>
          <p:cNvPr id="12" name="Rounded Rectangle 11"/>
          <p:cNvSpPr/>
          <p:nvPr/>
        </p:nvSpPr>
        <p:spPr>
          <a:xfrm>
            <a:off x="8092440" y="1234440"/>
            <a:ext cx="3703320" cy="233172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57031" y="1344168"/>
            <a:ext cx="3374136" cy="365760"/>
          </a:xfrm>
          <a:prstGeom prst="rect">
            <a:avLst/>
          </a:prstGeom>
          <a:noFill/>
        </p:spPr>
        <p:txBody>
          <a:bodyPr wrap="none">
            <a:spAutoFit/>
          </a:bodyPr>
          <a:lstStyle/>
          <a:p>
            <a:r>
              <a:rPr sz="1600" b="1">
                <a:solidFill>
                  <a:srgbClr val="1B365D"/>
                </a:solidFill>
                <a:latin typeface="Calibri"/>
              </a:rPr>
              <a:t>build123d / OpenCASCADE</a:t>
            </a:r>
          </a:p>
        </p:txBody>
      </p:sp>
      <p:sp>
        <p:nvSpPr>
          <p:cNvPr id="14" name="TextBox 13"/>
          <p:cNvSpPr txBox="1"/>
          <p:nvPr/>
        </p:nvSpPr>
        <p:spPr>
          <a:xfrm>
            <a:off x="8257031" y="1691640"/>
            <a:ext cx="3374136" cy="1737360"/>
          </a:xfrm>
          <a:prstGeom prst="rect">
            <a:avLst/>
          </a:prstGeom>
          <a:noFill/>
        </p:spPr>
        <p:txBody>
          <a:bodyPr wrap="square">
            <a:spAutoFit/>
          </a:bodyPr>
          <a:lstStyle/>
          <a:p>
            <a:r>
              <a:rPr sz="1300" b="0">
                <a:solidFill>
                  <a:srgbClr val="1A1A1A"/>
                </a:solidFill>
                <a:latin typeface="Calibri"/>
              </a:rPr>
              <a:t>The 3D kernel both converters sit on. Apache-2.0 (build123d). Not something the user edits. Native wheels are large; first Colab setup takes minutes.</a:t>
            </a:r>
          </a:p>
        </p:txBody>
      </p:sp>
      <p:sp>
        <p:nvSpPr>
          <p:cNvPr id="15" name="Rounded Rectangle 14"/>
          <p:cNvSpPr/>
          <p:nvPr/>
        </p:nvSpPr>
        <p:spPr>
          <a:xfrm>
            <a:off x="411480" y="3749039"/>
            <a:ext cx="3703320" cy="233172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072" y="3858768"/>
            <a:ext cx="3374136" cy="365760"/>
          </a:xfrm>
          <a:prstGeom prst="rect">
            <a:avLst/>
          </a:prstGeom>
          <a:noFill/>
        </p:spPr>
        <p:txBody>
          <a:bodyPr wrap="none">
            <a:spAutoFit/>
          </a:bodyPr>
          <a:lstStyle/>
          <a:p>
            <a:r>
              <a:rPr sz="1600" b="1">
                <a:solidFill>
                  <a:srgbClr val="1B365D"/>
                </a:solidFill>
                <a:latin typeface="Calibri"/>
              </a:rPr>
              <a:t>BOSL2</a:t>
            </a:r>
          </a:p>
        </p:txBody>
      </p:sp>
      <p:sp>
        <p:nvSpPr>
          <p:cNvPr id="17" name="TextBox 16"/>
          <p:cNvSpPr txBox="1"/>
          <p:nvPr/>
        </p:nvSpPr>
        <p:spPr>
          <a:xfrm>
            <a:off x="576072" y="4206240"/>
            <a:ext cx="3374136" cy="1737360"/>
          </a:xfrm>
          <a:prstGeom prst="rect">
            <a:avLst/>
          </a:prstGeom>
          <a:noFill/>
        </p:spPr>
        <p:txBody>
          <a:bodyPr wrap="square">
            <a:spAutoFit/>
          </a:bodyPr>
          <a:lstStyle/>
          <a:p>
            <a:r>
              <a:rPr sz="1300" b="0">
                <a:solidFill>
                  <a:srgbClr val="1A1A1A"/>
                </a:solidFill>
                <a:latin typeface="Calibri"/>
              </a:rPr>
              <a:t>Popular OpenSCAD parts library (BSD-2-Clause). Only cloned if the model include()s it, into OpenSCAD’s library folder. Not a Python package.</a:t>
            </a:r>
          </a:p>
        </p:txBody>
      </p:sp>
      <p:sp>
        <p:nvSpPr>
          <p:cNvPr id="18" name="Rounded Rectangle 17"/>
          <p:cNvSpPr/>
          <p:nvPr/>
        </p:nvSpPr>
        <p:spPr>
          <a:xfrm>
            <a:off x="4251960" y="3749039"/>
            <a:ext cx="3703320" cy="233172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16552" y="3858768"/>
            <a:ext cx="3374136" cy="365760"/>
          </a:xfrm>
          <a:prstGeom prst="rect">
            <a:avLst/>
          </a:prstGeom>
          <a:noFill/>
        </p:spPr>
        <p:txBody>
          <a:bodyPr wrap="none">
            <a:spAutoFit/>
          </a:bodyPr>
          <a:lstStyle/>
          <a:p>
            <a:r>
              <a:rPr sz="1600" b="1">
                <a:solidFill>
                  <a:srgbClr val="1B365D"/>
                </a:solidFill>
                <a:latin typeface="Calibri"/>
              </a:rPr>
              <a:t>Onshape</a:t>
            </a:r>
          </a:p>
        </p:txBody>
      </p:sp>
      <p:sp>
        <p:nvSpPr>
          <p:cNvPr id="20" name="TextBox 19"/>
          <p:cNvSpPr txBox="1"/>
          <p:nvPr/>
        </p:nvSpPr>
        <p:spPr>
          <a:xfrm>
            <a:off x="4416552" y="4206240"/>
            <a:ext cx="3374136" cy="1737360"/>
          </a:xfrm>
          <a:prstGeom prst="rect">
            <a:avLst/>
          </a:prstGeom>
          <a:noFill/>
        </p:spPr>
        <p:txBody>
          <a:bodyPr wrap="square">
            <a:spAutoFit/>
          </a:bodyPr>
          <a:lstStyle/>
          <a:p>
            <a:r>
              <a:rPr sz="1300" b="0">
                <a:solidFill>
                  <a:srgbClr val="1A1A1A"/>
                </a:solidFill>
                <a:latin typeface="Calibri"/>
              </a:rPr>
              <a:t>Browser CAD we already use after STEP import. Still the place for mates, motion, balloons, and assembly drawings. V1 does not call the Onshape API.</a:t>
            </a:r>
          </a:p>
        </p:txBody>
      </p:sp>
      <p:sp>
        <p:nvSpPr>
          <p:cNvPr id="21" name="Rounded Rectangle 20"/>
          <p:cNvSpPr/>
          <p:nvPr/>
        </p:nvSpPr>
        <p:spPr>
          <a:xfrm>
            <a:off x="8092440" y="3749039"/>
            <a:ext cx="3703320" cy="233172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7031" y="3858768"/>
            <a:ext cx="3374136" cy="365760"/>
          </a:xfrm>
          <a:prstGeom prst="rect">
            <a:avLst/>
          </a:prstGeom>
          <a:noFill/>
        </p:spPr>
        <p:txBody>
          <a:bodyPr wrap="none">
            <a:spAutoFit/>
          </a:bodyPr>
          <a:lstStyle/>
          <a:p>
            <a:r>
              <a:rPr sz="1600" b="1">
                <a:solidFill>
                  <a:srgbClr val="1B365D"/>
                </a:solidFill>
                <a:latin typeface="Calibri"/>
              </a:rPr>
              <a:t>Gemini in Colab (optional)</a:t>
            </a:r>
          </a:p>
        </p:txBody>
      </p:sp>
      <p:sp>
        <p:nvSpPr>
          <p:cNvPr id="23" name="TextBox 22"/>
          <p:cNvSpPr txBox="1"/>
          <p:nvPr/>
        </p:nvSpPr>
        <p:spPr>
          <a:xfrm>
            <a:off x="8257031" y="4206240"/>
            <a:ext cx="3374136" cy="1737360"/>
          </a:xfrm>
          <a:prstGeom prst="rect">
            <a:avLst/>
          </a:prstGeom>
          <a:noFill/>
        </p:spPr>
        <p:txBody>
          <a:bodyPr wrap="square">
            <a:spAutoFit/>
          </a:bodyPr>
          <a:lstStyle/>
          <a:p>
            <a:r>
              <a:rPr sz="1300" b="0">
                <a:solidFill>
                  <a:srgbClr val="1A1A1A"/>
                </a:solidFill>
                <a:latin typeface="Calibri"/>
              </a:rPr>
              <a:t>Google’s assistant in the notebook. Give it GEMINI_COLAB_SOP.md so it does not invent pip install / uvx. Fill CONFIG; do not let it rewrite setup.</a:t>
            </a:r>
          </a:p>
        </p:txBody>
      </p:sp>
      <p:sp>
        <p:nvSpPr>
          <p:cNvPr id="24" name="Rectangle 23"/>
          <p:cNvSpPr/>
          <p:nvPr/>
        </p:nvSpPr>
        <p:spPr>
          <a:xfrm>
            <a:off x="457200" y="6537960"/>
            <a:ext cx="11247120" cy="13716"/>
          </a:xfrm>
          <a:prstGeom prst="rect">
            <a:avLst/>
          </a:prstGeom>
          <a:solidFill>
            <a:srgbClr val="D0D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6583680"/>
            <a:ext cx="8229600" cy="228600"/>
          </a:xfrm>
          <a:prstGeom prst="rect">
            <a:avLst/>
          </a:prstGeom>
          <a:noFill/>
        </p:spPr>
        <p:txBody>
          <a:bodyPr wrap="none">
            <a:spAutoFit/>
          </a:bodyPr>
          <a:lstStyle/>
          <a:p>
            <a:r>
              <a:rPr sz="1100" b="0">
                <a:solidFill>
                  <a:srgbClr val="5A5A5A"/>
                </a:solidFill>
                <a:latin typeface="Calibri"/>
              </a:rPr>
              <a:t>scad2drawing  ·  V1 briefing</a:t>
            </a:r>
          </a:p>
        </p:txBody>
      </p:sp>
      <p:sp>
        <p:nvSpPr>
          <p:cNvPr id="26" name="TextBox 25"/>
          <p:cNvSpPr txBox="1"/>
          <p:nvPr/>
        </p:nvSpPr>
        <p:spPr>
          <a:xfrm>
            <a:off x="9601200" y="6583680"/>
            <a:ext cx="2103120" cy="228600"/>
          </a:xfrm>
          <a:prstGeom prst="rect">
            <a:avLst/>
          </a:prstGeom>
          <a:noFill/>
        </p:spPr>
        <p:txBody>
          <a:bodyPr wrap="none">
            <a:spAutoFit/>
          </a:bodyPr>
          <a:lstStyle/>
          <a:p>
            <a:pPr algn="r"/>
            <a:r>
              <a:rPr sz="1100" b="0">
                <a:solidFill>
                  <a:srgbClr val="5A5A5A"/>
                </a:solidFill>
                <a:latin typeface="Calibri"/>
              </a:rP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457200"/>
          </a:xfrm>
          <a:prstGeom prst="rect">
            <a:avLst/>
          </a:prstGeom>
          <a:noFill/>
        </p:spPr>
        <p:txBody>
          <a:bodyPr wrap="none">
            <a:spAutoFit/>
          </a:bodyPr>
          <a:lstStyle/>
          <a:p>
            <a:r>
              <a:rPr sz="2600" b="1">
                <a:solidFill>
                  <a:srgbClr val="FFFFFF"/>
                </a:solidFill>
                <a:latin typeface="Calibri"/>
              </a:rPr>
              <a:t>What our repo actually contains</a:t>
            </a:r>
          </a:p>
        </p:txBody>
      </p:sp>
      <p:sp>
        <p:nvSpPr>
          <p:cNvPr id="4" name="TextBox 3"/>
          <p:cNvSpPr txBox="1"/>
          <p:nvPr/>
        </p:nvSpPr>
        <p:spPr>
          <a:xfrm>
            <a:off x="457200" y="585216"/>
            <a:ext cx="11247120" cy="292608"/>
          </a:xfrm>
          <a:prstGeom prst="rect">
            <a:avLst/>
          </a:prstGeom>
          <a:noFill/>
        </p:spPr>
        <p:txBody>
          <a:bodyPr wrap="none">
            <a:spAutoFit/>
          </a:bodyPr>
          <a:lstStyle/>
          <a:p>
            <a:r>
              <a:rPr sz="1300" b="0">
                <a:solidFill>
                  <a:srgbClr val="C5D4E8"/>
                </a:solidFill>
                <a:latin typeface="Calibri"/>
              </a:rPr>
              <a:t>scad2drawing is glue, not a fork of CAD engines</a:t>
            </a:r>
          </a:p>
        </p:txBody>
      </p:sp>
      <p:sp>
        <p:nvSpPr>
          <p:cNvPr id="5" name="Rectangle 4"/>
          <p:cNvSpPr/>
          <p:nvPr/>
        </p:nvSpPr>
        <p:spPr>
          <a:xfrm>
            <a:off x="0" y="960120"/>
            <a:ext cx="12191695"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34440"/>
            <a:ext cx="11247120" cy="5029200"/>
          </a:xfrm>
          <a:prstGeom prst="rect">
            <a:avLst/>
          </a:prstGeom>
          <a:noFill/>
        </p:spPr>
        <p:txBody>
          <a:bodyPr wrap="square">
            <a:spAutoFit/>
          </a:bodyPr>
          <a:lstStyle/>
          <a:p>
            <a:pPr>
              <a:spcAft>
                <a:spcPts val="1000"/>
              </a:spcAft>
            </a:pPr>
            <a:r>
              <a:rPr sz="1600" b="0">
                <a:solidFill>
                  <a:srgbClr val="1A1A1A"/>
                </a:solidFill>
                <a:latin typeface="Calibri"/>
              </a:rPr>
              <a:t>A Colab template (edit one CONFIG cell, Run all) and a walkthrough notebook.</a:t>
            </a:r>
          </a:p>
          <a:p>
            <a:pPr>
              <a:spcAft>
                <a:spcPts val="1000"/>
              </a:spcAft>
            </a:pPr>
            <a:r>
              <a:rPr sz="1600" b="0">
                <a:solidFill>
                  <a:srgbClr val="1A1A1A"/>
                </a:solidFill>
                <a:latin typeface="Calibri"/>
              </a:rPr>
              <a:t>A small CLI: scad2drawing bootstrap | convert | smoke — same two subprocesses as Colab.</a:t>
            </a:r>
          </a:p>
          <a:p>
            <a:pPr>
              <a:spcAft>
                <a:spcPts val="1000"/>
              </a:spcAft>
            </a:pPr>
            <a:r>
              <a:rPr sz="1600" b="0">
                <a:solidFill>
                  <a:srgbClr val="1A1A1A"/>
                </a:solidFill>
                <a:latin typeface="Calibri"/>
              </a:rPr>
              <a:t>Sample models: a cube (environment test), a plate with holes, a part= selector, and a known mesh-fallback hull.</a:t>
            </a:r>
          </a:p>
          <a:p>
            <a:pPr>
              <a:spcAft>
                <a:spcPts val="1000"/>
              </a:spcAft>
            </a:pPr>
            <a:r>
              <a:rPr sz="1600" b="0">
                <a:solidFill>
                  <a:srgbClr val="1A1A1A"/>
                </a:solidFill>
                <a:latin typeface="Calibri"/>
              </a:rPr>
              <a:t>Pins (exact git revisions of scad123d and draftwright), NOTICE / licenses, and a Gemini SOP.</a:t>
            </a:r>
          </a:p>
          <a:p>
            <a:pPr>
              <a:spcAft>
                <a:spcPts val="1000"/>
              </a:spcAft>
            </a:pPr>
            <a:r>
              <a:rPr sz="1600" b="0">
                <a:solidFill>
                  <a:srgbClr val="1A1A1A"/>
                </a:solidFill>
                <a:latin typeface="Calibri"/>
              </a:rPr>
              <a:t>It does not contain copies of scad123d or draftwright source. At runtime we clone those GitHub repos at pinned commits and run their CLIs.</a:t>
            </a:r>
          </a:p>
          <a:p>
            <a:pPr>
              <a:spcAft>
                <a:spcPts val="1000"/>
              </a:spcAft>
            </a:pPr>
            <a:r>
              <a:rPr sz="1600" b="0">
                <a:solidFill>
                  <a:srgbClr val="1A1A1A"/>
                </a:solidFill>
                <a:latin typeface="Calibri"/>
              </a:rPr>
              <a:t>Why that matters: we get their bug-fixes by bumping a pin; we do not take ownership of two CAD codebases; AGPL stays on the drawing engine.</a:t>
            </a:r>
          </a:p>
        </p:txBody>
      </p:sp>
      <p:sp>
        <p:nvSpPr>
          <p:cNvPr id="7" name="Rectangle 6"/>
          <p:cNvSpPr/>
          <p:nvPr/>
        </p:nvSpPr>
        <p:spPr>
          <a:xfrm>
            <a:off x="457200" y="6537960"/>
            <a:ext cx="11247120" cy="13716"/>
          </a:xfrm>
          <a:prstGeom prst="rect">
            <a:avLst/>
          </a:prstGeom>
          <a:solidFill>
            <a:srgbClr val="D0D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83680"/>
            <a:ext cx="8229600" cy="228600"/>
          </a:xfrm>
          <a:prstGeom prst="rect">
            <a:avLst/>
          </a:prstGeom>
          <a:noFill/>
        </p:spPr>
        <p:txBody>
          <a:bodyPr wrap="none">
            <a:spAutoFit/>
          </a:bodyPr>
          <a:lstStyle/>
          <a:p>
            <a:r>
              <a:rPr sz="1100" b="0">
                <a:solidFill>
                  <a:srgbClr val="5A5A5A"/>
                </a:solidFill>
                <a:latin typeface="Calibri"/>
              </a:rPr>
              <a:t>scad2drawing  ·  V1 briefing</a:t>
            </a:r>
          </a:p>
        </p:txBody>
      </p:sp>
      <p:sp>
        <p:nvSpPr>
          <p:cNvPr id="9" name="TextBox 8"/>
          <p:cNvSpPr txBox="1"/>
          <p:nvPr/>
        </p:nvSpPr>
        <p:spPr>
          <a:xfrm>
            <a:off x="9601200" y="6583680"/>
            <a:ext cx="2103120" cy="228600"/>
          </a:xfrm>
          <a:prstGeom prst="rect">
            <a:avLst/>
          </a:prstGeom>
          <a:noFill/>
        </p:spPr>
        <p:txBody>
          <a:bodyPr wrap="none">
            <a:spAutoFit/>
          </a:bodyPr>
          <a:lstStyle/>
          <a:p>
            <a:pPr algn="r"/>
            <a:r>
              <a:rPr sz="1100" b="0">
                <a:solidFill>
                  <a:srgbClr val="5A5A5A"/>
                </a:solidFill>
                <a:latin typeface="Calibri"/>
              </a:rP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457200"/>
          </a:xfrm>
          <a:prstGeom prst="rect">
            <a:avLst/>
          </a:prstGeom>
          <a:noFill/>
        </p:spPr>
        <p:txBody>
          <a:bodyPr wrap="none">
            <a:spAutoFit/>
          </a:bodyPr>
          <a:lstStyle/>
          <a:p>
            <a:r>
              <a:rPr sz="2600" b="1">
                <a:solidFill>
                  <a:srgbClr val="FFFFFF"/>
                </a:solidFill>
                <a:latin typeface="Calibri"/>
              </a:rPr>
              <a:t>Why two locked environments</a:t>
            </a:r>
          </a:p>
        </p:txBody>
      </p:sp>
      <p:sp>
        <p:nvSpPr>
          <p:cNvPr id="4" name="TextBox 3"/>
          <p:cNvSpPr txBox="1"/>
          <p:nvPr/>
        </p:nvSpPr>
        <p:spPr>
          <a:xfrm>
            <a:off x="457200" y="585216"/>
            <a:ext cx="11247120" cy="292608"/>
          </a:xfrm>
          <a:prstGeom prst="rect">
            <a:avLst/>
          </a:prstGeom>
          <a:noFill/>
        </p:spPr>
        <p:txBody>
          <a:bodyPr wrap="none">
            <a:spAutoFit/>
          </a:bodyPr>
          <a:lstStyle/>
          <a:p>
            <a:r>
              <a:rPr sz="1300" b="0">
                <a:solidFill>
                  <a:srgbClr val="C5D4E8"/>
                </a:solidFill>
                <a:latin typeface="Calibri"/>
              </a:rPr>
              <a:t>The lesson from the earlier Colab SOP</a:t>
            </a:r>
          </a:p>
        </p:txBody>
      </p:sp>
      <p:sp>
        <p:nvSpPr>
          <p:cNvPr id="5" name="Rectangle 4"/>
          <p:cNvSpPr/>
          <p:nvPr/>
        </p:nvSpPr>
        <p:spPr>
          <a:xfrm>
            <a:off x="0" y="960120"/>
            <a:ext cx="12191695"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34440"/>
            <a:ext cx="11247120" cy="5029200"/>
          </a:xfrm>
          <a:prstGeom prst="rect">
            <a:avLst/>
          </a:prstGeom>
          <a:noFill/>
        </p:spPr>
        <p:txBody>
          <a:bodyPr wrap="square">
            <a:spAutoFit/>
          </a:bodyPr>
          <a:lstStyle/>
          <a:p>
            <a:pPr>
              <a:spcAft>
                <a:spcPts val="1000"/>
              </a:spcAft>
            </a:pPr>
            <a:r>
              <a:rPr sz="1600" b="0">
                <a:solidFill>
                  <a:srgbClr val="1A1A1A"/>
                </a:solidFill>
                <a:latin typeface="Calibri"/>
              </a:rPr>
              <a:t>Both tools depend on build123d and OpenCASCADE (OCP) native libraries. Those versions do not always agree, especially on Colab’s Python 3.12.</a:t>
            </a:r>
          </a:p>
          <a:p>
            <a:pPr>
              <a:spcAft>
                <a:spcPts val="1000"/>
              </a:spcAft>
            </a:pPr>
            <a:r>
              <a:rPr sz="1600" b="0">
                <a:solidFill>
                  <a:srgbClr val="1A1A1A"/>
                </a:solidFill>
                <a:latin typeface="Calibri"/>
              </a:rPr>
              <a:t>An unlocked one-liner (uvx scad2step) previously failed with OCP TopTools ImportError — uv picked an incompatible wheel.</a:t>
            </a:r>
          </a:p>
          <a:p>
            <a:pPr>
              <a:spcAft>
                <a:spcPts val="1000"/>
              </a:spcAft>
            </a:pPr>
            <a:r>
              <a:rPr sz="1600" b="0">
                <a:solidFill>
                  <a:srgbClr val="1A1A1A"/>
                </a:solidFill>
                <a:latin typeface="Calibri"/>
              </a:rPr>
              <a:t>The working pattern: clone each project, uv sync its own lockfile, uv run the command from that folder. STEP files sit in /content/work between the two.</a:t>
            </a:r>
          </a:p>
          <a:p>
            <a:pPr>
              <a:spcAft>
                <a:spcPts val="1000"/>
              </a:spcAft>
            </a:pPr>
            <a:r>
              <a:rPr sz="1600" b="0">
                <a:solidFill>
                  <a:srgbClr val="1A1A1A"/>
                </a:solidFill>
                <a:latin typeface="Calibri"/>
              </a:rPr>
              <a:t>V1 never import scad123d and import draftwright in the same notebook kernel. That is a later optimisation (V2), not required to ship drawings.</a:t>
            </a:r>
          </a:p>
          <a:p>
            <a:pPr>
              <a:spcAft>
                <a:spcPts val="1000"/>
              </a:spcAft>
            </a:pPr>
            <a:r>
              <a:rPr sz="1600" b="0">
                <a:solidFill>
                  <a:srgbClr val="1A1A1A"/>
                </a:solidFill>
                <a:latin typeface="Calibri"/>
              </a:rPr>
              <a:t>Rule for anyone helping in Colab (including Gemini): pip install uv is allowed; pip install of CAD wheels into Colab’s system Python is not.</a:t>
            </a:r>
          </a:p>
        </p:txBody>
      </p:sp>
      <p:sp>
        <p:nvSpPr>
          <p:cNvPr id="7" name="Rectangle 6"/>
          <p:cNvSpPr/>
          <p:nvPr/>
        </p:nvSpPr>
        <p:spPr>
          <a:xfrm>
            <a:off x="457200" y="6537960"/>
            <a:ext cx="11247120" cy="13716"/>
          </a:xfrm>
          <a:prstGeom prst="rect">
            <a:avLst/>
          </a:prstGeom>
          <a:solidFill>
            <a:srgbClr val="D0D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83680"/>
            <a:ext cx="8229600" cy="228600"/>
          </a:xfrm>
          <a:prstGeom prst="rect">
            <a:avLst/>
          </a:prstGeom>
          <a:noFill/>
        </p:spPr>
        <p:txBody>
          <a:bodyPr wrap="none">
            <a:spAutoFit/>
          </a:bodyPr>
          <a:lstStyle/>
          <a:p>
            <a:r>
              <a:rPr sz="1100" b="0">
                <a:solidFill>
                  <a:srgbClr val="5A5A5A"/>
                </a:solidFill>
                <a:latin typeface="Calibri"/>
              </a:rPr>
              <a:t>scad2drawing  ·  V1 briefing</a:t>
            </a:r>
          </a:p>
        </p:txBody>
      </p:sp>
      <p:sp>
        <p:nvSpPr>
          <p:cNvPr id="9" name="TextBox 8"/>
          <p:cNvSpPr txBox="1"/>
          <p:nvPr/>
        </p:nvSpPr>
        <p:spPr>
          <a:xfrm>
            <a:off x="9601200" y="6583680"/>
            <a:ext cx="2103120" cy="228600"/>
          </a:xfrm>
          <a:prstGeom prst="rect">
            <a:avLst/>
          </a:prstGeom>
          <a:noFill/>
        </p:spPr>
        <p:txBody>
          <a:bodyPr wrap="none">
            <a:spAutoFit/>
          </a:bodyPr>
          <a:lstStyle/>
          <a:p>
            <a:pPr algn="r"/>
            <a:r>
              <a:rPr sz="1100" b="0">
                <a:solidFill>
                  <a:srgbClr val="5A5A5A"/>
                </a:solidFill>
                <a:latin typeface="Calibri"/>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457200"/>
          </a:xfrm>
          <a:prstGeom prst="rect">
            <a:avLst/>
          </a:prstGeom>
          <a:noFill/>
        </p:spPr>
        <p:txBody>
          <a:bodyPr wrap="none">
            <a:spAutoFit/>
          </a:bodyPr>
          <a:lstStyle/>
          <a:p>
            <a:r>
              <a:rPr sz="2600" b="1">
                <a:solidFill>
                  <a:srgbClr val="FFFFFF"/>
                </a:solidFill>
                <a:latin typeface="Calibri"/>
              </a:rPr>
              <a:t>What a V1 drawing looks like</a:t>
            </a:r>
          </a:p>
        </p:txBody>
      </p:sp>
      <p:sp>
        <p:nvSpPr>
          <p:cNvPr id="4" name="TextBox 3"/>
          <p:cNvSpPr txBox="1"/>
          <p:nvPr/>
        </p:nvSpPr>
        <p:spPr>
          <a:xfrm>
            <a:off x="457200" y="585216"/>
            <a:ext cx="11247120" cy="292608"/>
          </a:xfrm>
          <a:prstGeom prst="rect">
            <a:avLst/>
          </a:prstGeom>
          <a:noFill/>
        </p:spPr>
        <p:txBody>
          <a:bodyPr wrap="none">
            <a:spAutoFit/>
          </a:bodyPr>
          <a:lstStyle/>
          <a:p>
            <a:r>
              <a:rPr sz="1300" b="0">
                <a:solidFill>
                  <a:srgbClr val="C5D4E8"/>
                </a:solidFill>
                <a:latin typeface="Calibri"/>
              </a:rPr>
              <a:t>samples/plate.scad  →  STEP  →  this PDF (generated on our test machine)</a:t>
            </a:r>
          </a:p>
        </p:txBody>
      </p:sp>
      <p:sp>
        <p:nvSpPr>
          <p:cNvPr id="5" name="Rectangle 4"/>
          <p:cNvSpPr/>
          <p:nvPr/>
        </p:nvSpPr>
        <p:spPr>
          <a:xfrm>
            <a:off x="0" y="960120"/>
            <a:ext cx="12191695"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late-drawing.png"/>
          <p:cNvPicPr>
            <a:picLocks noChangeAspect="1"/>
          </p:cNvPicPr>
          <p:nvPr/>
        </p:nvPicPr>
        <p:blipFill>
          <a:blip r:embed="rId2"/>
          <a:stretch>
            <a:fillRect/>
          </a:stretch>
        </p:blipFill>
        <p:spPr>
          <a:xfrm>
            <a:off x="1463040" y="1143000"/>
            <a:ext cx="9235440" cy="5212080"/>
          </a:xfrm>
          <a:prstGeom prst="rect">
            <a:avLst/>
          </a:prstGeom>
        </p:spPr>
      </p:pic>
      <p:sp>
        <p:nvSpPr>
          <p:cNvPr id="7" name="Rectangle 6"/>
          <p:cNvSpPr/>
          <p:nvPr/>
        </p:nvSpPr>
        <p:spPr>
          <a:xfrm>
            <a:off x="457200" y="6537960"/>
            <a:ext cx="11247120" cy="13716"/>
          </a:xfrm>
          <a:prstGeom prst="rect">
            <a:avLst/>
          </a:prstGeom>
          <a:solidFill>
            <a:srgbClr val="D0D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83680"/>
            <a:ext cx="8229600" cy="228600"/>
          </a:xfrm>
          <a:prstGeom prst="rect">
            <a:avLst/>
          </a:prstGeom>
          <a:noFill/>
        </p:spPr>
        <p:txBody>
          <a:bodyPr wrap="none">
            <a:spAutoFit/>
          </a:bodyPr>
          <a:lstStyle/>
          <a:p>
            <a:r>
              <a:rPr sz="1100" b="0">
                <a:solidFill>
                  <a:srgbClr val="5A5A5A"/>
                </a:solidFill>
                <a:latin typeface="Calibri"/>
              </a:rPr>
              <a:t>scad2drawing  ·  V1 briefing</a:t>
            </a:r>
          </a:p>
        </p:txBody>
      </p:sp>
      <p:sp>
        <p:nvSpPr>
          <p:cNvPr id="9" name="TextBox 8"/>
          <p:cNvSpPr txBox="1"/>
          <p:nvPr/>
        </p:nvSpPr>
        <p:spPr>
          <a:xfrm>
            <a:off x="9601200" y="6583680"/>
            <a:ext cx="2103120" cy="228600"/>
          </a:xfrm>
          <a:prstGeom prst="rect">
            <a:avLst/>
          </a:prstGeom>
          <a:noFill/>
        </p:spPr>
        <p:txBody>
          <a:bodyPr wrap="none">
            <a:spAutoFit/>
          </a:bodyPr>
          <a:lstStyle/>
          <a:p>
            <a:pPr algn="r"/>
            <a:r>
              <a:rPr sz="1100" b="0">
                <a:solidFill>
                  <a:srgbClr val="5A5A5A"/>
                </a:solidFill>
                <a:latin typeface="Calibri"/>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457200"/>
          </a:xfrm>
          <a:prstGeom prst="rect">
            <a:avLst/>
          </a:prstGeom>
          <a:noFill/>
        </p:spPr>
        <p:txBody>
          <a:bodyPr wrap="none">
            <a:spAutoFit/>
          </a:bodyPr>
          <a:lstStyle/>
          <a:p>
            <a:r>
              <a:rPr sz="2600" b="1">
                <a:solidFill>
                  <a:srgbClr val="FFFFFF"/>
                </a:solidFill>
                <a:latin typeface="Calibri"/>
              </a:rPr>
              <a:t>How someone runs V1</a:t>
            </a:r>
          </a:p>
        </p:txBody>
      </p:sp>
      <p:sp>
        <p:nvSpPr>
          <p:cNvPr id="4" name="TextBox 3"/>
          <p:cNvSpPr txBox="1"/>
          <p:nvPr/>
        </p:nvSpPr>
        <p:spPr>
          <a:xfrm>
            <a:off x="457200" y="585216"/>
            <a:ext cx="11247120" cy="292608"/>
          </a:xfrm>
          <a:prstGeom prst="rect">
            <a:avLst/>
          </a:prstGeom>
          <a:noFill/>
        </p:spPr>
        <p:txBody>
          <a:bodyPr wrap="none">
            <a:spAutoFit/>
          </a:bodyPr>
          <a:lstStyle/>
          <a:p>
            <a:r>
              <a:rPr sz="1300" b="0">
                <a:solidFill>
                  <a:srgbClr val="C5D4E8"/>
                </a:solidFill>
                <a:latin typeface="Calibri"/>
              </a:rPr>
              <a:t>Colab is the intended UI</a:t>
            </a:r>
          </a:p>
        </p:txBody>
      </p:sp>
      <p:sp>
        <p:nvSpPr>
          <p:cNvPr id="5" name="Rectangle 4"/>
          <p:cNvSpPr/>
          <p:nvPr/>
        </p:nvSpPr>
        <p:spPr>
          <a:xfrm>
            <a:off x="0" y="960120"/>
            <a:ext cx="12191695"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34440"/>
            <a:ext cx="11247120" cy="5029200"/>
          </a:xfrm>
          <a:prstGeom prst="rect">
            <a:avLst/>
          </a:prstGeom>
          <a:noFill/>
        </p:spPr>
        <p:txBody>
          <a:bodyPr wrap="square">
            <a:spAutoFit/>
          </a:bodyPr>
          <a:lstStyle/>
          <a:p>
            <a:pPr>
              <a:spcAft>
                <a:spcPts val="1000"/>
              </a:spcAft>
            </a:pPr>
            <a:r>
              <a:rPr sz="1600" b="0">
                <a:solidFill>
                  <a:srgbClr val="1A1A1A"/>
                </a:solidFill>
                <a:latin typeface="Calibri"/>
              </a:rPr>
              <a:t>Open notebooks/scad2drawing_template.ipynb in Google Colab (CPU). Edit CONFIG: filename, whether BOSL2 is needed, list of parts, title/drawing number.</a:t>
            </a:r>
          </a:p>
          <a:p>
            <a:pPr>
              <a:spcAft>
                <a:spcPts val="1000"/>
              </a:spcAft>
            </a:pPr>
            <a:r>
              <a:rPr sz="1600" b="0">
                <a:solidFill>
                  <a:srgbClr val="1A1A1A"/>
                </a:solidFill>
                <a:latin typeface="Calibri"/>
              </a:rPr>
              <a:t>Runtime → Run all. First time: install OpenSCAD, clone the two pinned repos, uv sync (several minutes). After a runtime reset, setup must be rerun.</a:t>
            </a:r>
          </a:p>
          <a:p>
            <a:pPr>
              <a:spcAft>
                <a:spcPts val="1000"/>
              </a:spcAft>
            </a:pPr>
            <a:r>
              <a:rPr sz="1600" b="0">
                <a:solidFill>
                  <a:srgbClr val="1A1A1A"/>
                </a:solidFill>
                <a:latin typeface="Calibri"/>
              </a:rPr>
              <a:t>Upload the .scad (and a zip of local includes if any). Use bare OpenSCAD flags: -D part=frame, not nested quotes.</a:t>
            </a:r>
          </a:p>
          <a:p>
            <a:pPr>
              <a:spcAft>
                <a:spcPts val="1000"/>
              </a:spcAft>
            </a:pPr>
            <a:r>
              <a:rPr sz="1600" b="0">
                <a:solidFill>
                  <a:srgbClr val="1A1A1A"/>
                </a:solidFill>
                <a:latin typeface="Calibri"/>
              </a:rPr>
              <a:t>Download a zip of .step, .pdf, .svg, and converter logs. Mesh-fallback warnings are shown, not hidden.</a:t>
            </a:r>
          </a:p>
          <a:p>
            <a:pPr>
              <a:spcAft>
                <a:spcPts val="1000"/>
              </a:spcAft>
            </a:pPr>
            <a:r>
              <a:rPr sz="1600" b="0">
                <a:solidFill>
                  <a:srgbClr val="1A1A1A"/>
                </a:solidFill>
                <a:latin typeface="Calibri"/>
              </a:rPr>
              <a:t>Local equivalent: scad2drawing bootstrap then scad2drawing convert file.scad -D part=frame. Same engines, no Colab.</a:t>
            </a:r>
          </a:p>
          <a:p>
            <a:pPr>
              <a:spcAft>
                <a:spcPts val="1000"/>
              </a:spcAft>
            </a:pPr>
            <a:r>
              <a:rPr sz="1600" b="0">
                <a:solidFill>
                  <a:srgbClr val="1A1A1A"/>
                </a:solidFill>
                <a:latin typeface="Calibri"/>
              </a:rPr>
              <a:t>If using Gemini in Colab: attach GEMINI_COLAB_SOP.md and tell it to fill CONFIG only — not to invent a shorter install.</a:t>
            </a:r>
          </a:p>
        </p:txBody>
      </p:sp>
      <p:sp>
        <p:nvSpPr>
          <p:cNvPr id="7" name="Rectangle 6"/>
          <p:cNvSpPr/>
          <p:nvPr/>
        </p:nvSpPr>
        <p:spPr>
          <a:xfrm>
            <a:off x="457200" y="6537960"/>
            <a:ext cx="11247120" cy="13716"/>
          </a:xfrm>
          <a:prstGeom prst="rect">
            <a:avLst/>
          </a:prstGeom>
          <a:solidFill>
            <a:srgbClr val="D0D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83680"/>
            <a:ext cx="8229600" cy="228600"/>
          </a:xfrm>
          <a:prstGeom prst="rect">
            <a:avLst/>
          </a:prstGeom>
          <a:noFill/>
        </p:spPr>
        <p:txBody>
          <a:bodyPr wrap="none">
            <a:spAutoFit/>
          </a:bodyPr>
          <a:lstStyle/>
          <a:p>
            <a:r>
              <a:rPr sz="1100" b="0">
                <a:solidFill>
                  <a:srgbClr val="5A5A5A"/>
                </a:solidFill>
                <a:latin typeface="Calibri"/>
              </a:rPr>
              <a:t>scad2drawing  ·  V1 briefing</a:t>
            </a:r>
          </a:p>
        </p:txBody>
      </p:sp>
      <p:sp>
        <p:nvSpPr>
          <p:cNvPr id="9" name="TextBox 8"/>
          <p:cNvSpPr txBox="1"/>
          <p:nvPr/>
        </p:nvSpPr>
        <p:spPr>
          <a:xfrm>
            <a:off x="9601200" y="6583680"/>
            <a:ext cx="2103120" cy="228600"/>
          </a:xfrm>
          <a:prstGeom prst="rect">
            <a:avLst/>
          </a:prstGeom>
          <a:noFill/>
        </p:spPr>
        <p:txBody>
          <a:bodyPr wrap="none">
            <a:spAutoFit/>
          </a:bodyPr>
          <a:lstStyle/>
          <a:p>
            <a:pPr algn="r"/>
            <a:r>
              <a:rPr sz="1100" b="0">
                <a:solidFill>
                  <a:srgbClr val="5A5A5A"/>
                </a:solidFill>
                <a:latin typeface="Calibri"/>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457200"/>
          </a:xfrm>
          <a:prstGeom prst="rect">
            <a:avLst/>
          </a:prstGeom>
          <a:noFill/>
        </p:spPr>
        <p:txBody>
          <a:bodyPr wrap="none">
            <a:spAutoFit/>
          </a:bodyPr>
          <a:lstStyle/>
          <a:p>
            <a:r>
              <a:rPr sz="2600" b="1">
                <a:solidFill>
                  <a:srgbClr val="FFFFFF"/>
                </a:solidFill>
                <a:latin typeface="Calibri"/>
              </a:rPr>
              <a:t>What V1 does not do</a:t>
            </a:r>
          </a:p>
        </p:txBody>
      </p:sp>
      <p:sp>
        <p:nvSpPr>
          <p:cNvPr id="4" name="TextBox 3"/>
          <p:cNvSpPr txBox="1"/>
          <p:nvPr/>
        </p:nvSpPr>
        <p:spPr>
          <a:xfrm>
            <a:off x="457200" y="585216"/>
            <a:ext cx="11247120" cy="292608"/>
          </a:xfrm>
          <a:prstGeom prst="rect">
            <a:avLst/>
          </a:prstGeom>
          <a:noFill/>
        </p:spPr>
        <p:txBody>
          <a:bodyPr wrap="none">
            <a:spAutoFit/>
          </a:bodyPr>
          <a:lstStyle/>
          <a:p>
            <a:r>
              <a:rPr sz="1300" b="0">
                <a:solidFill>
                  <a:srgbClr val="C5D4E8"/>
                </a:solidFill>
                <a:latin typeface="Calibri"/>
              </a:rPr>
              <a:t>So we do not over-claim to manufacturing</a:t>
            </a:r>
          </a:p>
        </p:txBody>
      </p:sp>
      <p:sp>
        <p:nvSpPr>
          <p:cNvPr id="5" name="Rectangle 4"/>
          <p:cNvSpPr/>
          <p:nvPr/>
        </p:nvSpPr>
        <p:spPr>
          <a:xfrm>
            <a:off x="0" y="960120"/>
            <a:ext cx="12191695"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34440"/>
            <a:ext cx="11247120" cy="5029200"/>
          </a:xfrm>
          <a:prstGeom prst="rect">
            <a:avLst/>
          </a:prstGeom>
          <a:noFill/>
        </p:spPr>
        <p:txBody>
          <a:bodyPr wrap="square">
            <a:spAutoFit/>
          </a:bodyPr>
          <a:lstStyle/>
          <a:p>
            <a:pPr>
              <a:spcAft>
                <a:spcPts val="1000"/>
              </a:spcAft>
            </a:pPr>
            <a:r>
              <a:rPr sz="1600" b="0">
                <a:solidFill>
                  <a:srgbClr val="1A1A1A"/>
                </a:solidFill>
                <a:latin typeface="Calibri"/>
              </a:rPr>
              <a:t>Does not recreate mates, gear ratios, or motion. A fused assembly STEP is a picture. Moving parts still need separate exports and Onshape mates (existing SOP).</a:t>
            </a:r>
          </a:p>
          <a:p>
            <a:pPr>
              <a:spcAft>
                <a:spcPts val="1000"/>
              </a:spcAft>
            </a:pPr>
            <a:r>
              <a:rPr sz="1600" b="0">
                <a:solidFill>
                  <a:srgbClr val="1A1A1A"/>
                </a:solidFill>
                <a:latin typeface="Calibri"/>
              </a:rPr>
              <a:t>Does not produce shop-release ASME/ISO GD&amp;T from a .scad that has none. Review the PDF; SVG/DXF remain editable.</a:t>
            </a:r>
          </a:p>
          <a:p>
            <a:pPr>
              <a:spcAft>
                <a:spcPts val="1000"/>
              </a:spcAft>
            </a:pPr>
            <a:r>
              <a:rPr sz="1600" b="0">
                <a:solidFill>
                  <a:srgbClr val="1A1A1A"/>
                </a:solidFill>
                <a:latin typeface="Calibri"/>
              </a:rPr>
              <a:t>Does not replace Onshape assembly drawings, balloons, or BOM.</a:t>
            </a:r>
          </a:p>
          <a:p>
            <a:pPr>
              <a:spcAft>
                <a:spcPts val="1000"/>
              </a:spcAft>
            </a:pPr>
            <a:r>
              <a:rPr sz="1600" b="0">
                <a:solidFill>
                  <a:srgbClr val="1A1A1A"/>
                </a:solidFill>
                <a:latin typeface="Calibri"/>
              </a:rPr>
              <a:t>Does not use FreeCAD TechDraw (that other STEP→PDF project needs a GUI and has no published license — we did not use it).</a:t>
            </a:r>
          </a:p>
          <a:p>
            <a:pPr>
              <a:spcAft>
                <a:spcPts val="1000"/>
              </a:spcAft>
            </a:pPr>
            <a:r>
              <a:rPr sz="1600" b="0">
                <a:solidFill>
                  <a:srgbClr val="1A1A1A"/>
                </a:solidFill>
                <a:latin typeface="Calibri"/>
              </a:rPr>
              <a:t>Does not host a public web service. Colab is user-driven. Uploading a .scad to Colab sends it to Google — same as the previous conversion SOP.</a:t>
            </a:r>
          </a:p>
        </p:txBody>
      </p:sp>
      <p:sp>
        <p:nvSpPr>
          <p:cNvPr id="7" name="Rectangle 6"/>
          <p:cNvSpPr/>
          <p:nvPr/>
        </p:nvSpPr>
        <p:spPr>
          <a:xfrm>
            <a:off x="457200" y="6537960"/>
            <a:ext cx="11247120" cy="13716"/>
          </a:xfrm>
          <a:prstGeom prst="rect">
            <a:avLst/>
          </a:prstGeom>
          <a:solidFill>
            <a:srgbClr val="D0D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83680"/>
            <a:ext cx="8229600" cy="228600"/>
          </a:xfrm>
          <a:prstGeom prst="rect">
            <a:avLst/>
          </a:prstGeom>
          <a:noFill/>
        </p:spPr>
        <p:txBody>
          <a:bodyPr wrap="none">
            <a:spAutoFit/>
          </a:bodyPr>
          <a:lstStyle/>
          <a:p>
            <a:r>
              <a:rPr sz="1100" b="0">
                <a:solidFill>
                  <a:srgbClr val="5A5A5A"/>
                </a:solidFill>
                <a:latin typeface="Calibri"/>
              </a:rPr>
              <a:t>scad2drawing  ·  V1 briefing</a:t>
            </a:r>
          </a:p>
        </p:txBody>
      </p:sp>
      <p:sp>
        <p:nvSpPr>
          <p:cNvPr id="9" name="TextBox 8"/>
          <p:cNvSpPr txBox="1"/>
          <p:nvPr/>
        </p:nvSpPr>
        <p:spPr>
          <a:xfrm>
            <a:off x="9601200" y="6583680"/>
            <a:ext cx="2103120" cy="228600"/>
          </a:xfrm>
          <a:prstGeom prst="rect">
            <a:avLst/>
          </a:prstGeom>
          <a:noFill/>
        </p:spPr>
        <p:txBody>
          <a:bodyPr wrap="none">
            <a:spAutoFit/>
          </a:bodyPr>
          <a:lstStyle/>
          <a:p>
            <a:pPr algn="r"/>
            <a:r>
              <a:rPr sz="1100" b="0">
                <a:solidFill>
                  <a:srgbClr val="5A5A5A"/>
                </a:solidFill>
                <a:latin typeface="Calibri"/>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457200"/>
          </a:xfrm>
          <a:prstGeom prst="rect">
            <a:avLst/>
          </a:prstGeom>
          <a:noFill/>
        </p:spPr>
        <p:txBody>
          <a:bodyPr wrap="none">
            <a:spAutoFit/>
          </a:bodyPr>
          <a:lstStyle/>
          <a:p>
            <a:r>
              <a:rPr sz="2600" b="1">
                <a:solidFill>
                  <a:srgbClr val="FFFFFF"/>
                </a:solidFill>
                <a:latin typeface="Calibri"/>
              </a:rPr>
              <a:t>Software and repos at a glance</a:t>
            </a:r>
          </a:p>
        </p:txBody>
      </p:sp>
      <p:sp>
        <p:nvSpPr>
          <p:cNvPr id="4" name="TextBox 3"/>
          <p:cNvSpPr txBox="1"/>
          <p:nvPr/>
        </p:nvSpPr>
        <p:spPr>
          <a:xfrm>
            <a:off x="457200" y="585216"/>
            <a:ext cx="11247120" cy="292608"/>
          </a:xfrm>
          <a:prstGeom prst="rect">
            <a:avLst/>
          </a:prstGeom>
          <a:noFill/>
        </p:spPr>
        <p:txBody>
          <a:bodyPr wrap="none">
            <a:spAutoFit/>
          </a:bodyPr>
          <a:lstStyle/>
          <a:p>
            <a:r>
              <a:rPr sz="1300" b="0">
                <a:solidFill>
                  <a:srgbClr val="C5D4E8"/>
                </a:solidFill>
                <a:latin typeface="Calibri"/>
              </a:rPr>
              <a:t>Everything V1 touches</a:t>
            </a:r>
          </a:p>
        </p:txBody>
      </p:sp>
      <p:sp>
        <p:nvSpPr>
          <p:cNvPr id="5" name="Rectangle 4"/>
          <p:cNvSpPr/>
          <p:nvPr/>
        </p:nvSpPr>
        <p:spPr>
          <a:xfrm>
            <a:off x="0" y="960120"/>
            <a:ext cx="12191695"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365760" y="1170432"/>
          <a:ext cx="11430000" cy="5212080"/>
        </p:xfrm>
        <a:graphic>
          <a:graphicData uri="http://schemas.openxmlformats.org/drawingml/2006/table">
            <a:tbl>
              <a:tblPr firstRow="1" bandRow="1">
                <a:tableStyleId>{5C22544A-7EE6-4342-B048-85BDC9FD1C3A}</a:tableStyleId>
              </a:tblPr>
              <a:tblGrid>
                <a:gridCol w="1737360"/>
                <a:gridCol w="2011680"/>
                <a:gridCol w="2880360"/>
                <a:gridCol w="1417320"/>
                <a:gridCol w="3383280"/>
              </a:tblGrid>
              <a:tr h="579120">
                <a:tc>
                  <a:txBody>
                    <a:bodyPr/>
                    <a:lstStyle/>
                    <a:p>
                      <a:r>
                        <a:rPr sz="1200" b="1">
                          <a:solidFill>
                            <a:srgbClr val="FFFFFF"/>
                          </a:solidFill>
                          <a:latin typeface="Calibri"/>
                        </a:rPr>
                        <a:t>Piece</a:t>
                      </a:r>
                    </a:p>
                  </a:txBody>
                  <a:tcPr>
                    <a:solidFill>
                      <a:srgbClr val="1B365D"/>
                    </a:solidFill>
                  </a:tcPr>
                </a:tc>
                <a:tc>
                  <a:txBody>
                    <a:bodyPr/>
                    <a:lstStyle/>
                    <a:p>
                      <a:r>
                        <a:rPr sz="1200" b="1">
                          <a:solidFill>
                            <a:srgbClr val="FFFFFF"/>
                          </a:solidFill>
                          <a:latin typeface="Calibri"/>
                        </a:rPr>
                        <a:t>What it is</a:t>
                      </a:r>
                    </a:p>
                  </a:txBody>
                  <a:tcPr>
                    <a:solidFill>
                      <a:srgbClr val="1B365D"/>
                    </a:solidFill>
                  </a:tcPr>
                </a:tc>
                <a:tc>
                  <a:txBody>
                    <a:bodyPr/>
                    <a:lstStyle/>
                    <a:p>
                      <a:r>
                        <a:rPr sz="1200" b="1">
                          <a:solidFill>
                            <a:srgbClr val="FFFFFF"/>
                          </a:solidFill>
                          <a:latin typeface="Calibri"/>
                        </a:rPr>
                        <a:t>Where</a:t>
                      </a:r>
                    </a:p>
                  </a:txBody>
                  <a:tcPr>
                    <a:solidFill>
                      <a:srgbClr val="1B365D"/>
                    </a:solidFill>
                  </a:tcPr>
                </a:tc>
                <a:tc>
                  <a:txBody>
                    <a:bodyPr/>
                    <a:lstStyle/>
                    <a:p>
                      <a:r>
                        <a:rPr sz="1200" b="1">
                          <a:solidFill>
                            <a:srgbClr val="FFFFFF"/>
                          </a:solidFill>
                          <a:latin typeface="Calibri"/>
                        </a:rPr>
                        <a:t>License</a:t>
                      </a:r>
                    </a:p>
                  </a:txBody>
                  <a:tcPr>
                    <a:solidFill>
                      <a:srgbClr val="1B365D"/>
                    </a:solidFill>
                  </a:tcPr>
                </a:tc>
                <a:tc>
                  <a:txBody>
                    <a:bodyPr/>
                    <a:lstStyle/>
                    <a:p>
                      <a:r>
                        <a:rPr sz="1200" b="1">
                          <a:solidFill>
                            <a:srgbClr val="FFFFFF"/>
                          </a:solidFill>
                          <a:latin typeface="Calibri"/>
                        </a:rPr>
                        <a:t>Our use</a:t>
                      </a:r>
                    </a:p>
                  </a:txBody>
                  <a:tcPr>
                    <a:solidFill>
                      <a:srgbClr val="1B365D"/>
                    </a:solidFill>
                  </a:tcPr>
                </a:tc>
              </a:tr>
              <a:tr h="579120">
                <a:tc>
                  <a:txBody>
                    <a:bodyPr/>
                    <a:lstStyle/>
                    <a:p>
                      <a:r>
                        <a:rPr sz="1100" b="0">
                          <a:solidFill>
                            <a:srgbClr val="1A1A1A"/>
                          </a:solidFill>
                          <a:latin typeface="Calibri"/>
                        </a:rPr>
                        <a:t>OpenSCAD</a:t>
                      </a:r>
                    </a:p>
                  </a:txBody>
                  <a:tcPr>
                    <a:solidFill>
                      <a:srgbClr val="F4F6F8"/>
                    </a:solidFill>
                  </a:tcPr>
                </a:tc>
                <a:tc>
                  <a:txBody>
                    <a:bodyPr/>
                    <a:lstStyle/>
                    <a:p>
                      <a:r>
                        <a:rPr sz="1100" b="0">
                          <a:solidFill>
                            <a:srgbClr val="1A1A1A"/>
                          </a:solidFill>
                          <a:latin typeface="Calibri"/>
                        </a:rPr>
                        <a:t>Script 3D CAD</a:t>
                      </a:r>
                    </a:p>
                  </a:txBody>
                  <a:tcPr>
                    <a:solidFill>
                      <a:srgbClr val="F4F6F8"/>
                    </a:solidFill>
                  </a:tcPr>
                </a:tc>
                <a:tc>
                  <a:txBody>
                    <a:bodyPr/>
                    <a:lstStyle/>
                    <a:p>
                      <a:r>
                        <a:rPr sz="1100" b="0">
                          <a:solidFill>
                            <a:srgbClr val="1A1A1A"/>
                          </a:solidFill>
                          <a:latin typeface="Calibri"/>
                        </a:rPr>
                        <a:t>openscad.org</a:t>
                      </a:r>
                    </a:p>
                  </a:txBody>
                  <a:tcPr>
                    <a:solidFill>
                      <a:srgbClr val="F4F6F8"/>
                    </a:solidFill>
                  </a:tcPr>
                </a:tc>
                <a:tc>
                  <a:txBody>
                    <a:bodyPr/>
                    <a:lstStyle/>
                    <a:p>
                      <a:r>
                        <a:rPr sz="1100" b="0">
                          <a:solidFill>
                            <a:srgbClr val="1A1A1A"/>
                          </a:solidFill>
                          <a:latin typeface="Calibri"/>
                        </a:rPr>
                        <a:t>GPL-2.0+</a:t>
                      </a:r>
                    </a:p>
                  </a:txBody>
                  <a:tcPr>
                    <a:solidFill>
                      <a:srgbClr val="F4F6F8"/>
                    </a:solidFill>
                  </a:tcPr>
                </a:tc>
                <a:tc>
                  <a:txBody>
                    <a:bodyPr/>
                    <a:lstStyle/>
                    <a:p>
                      <a:r>
                        <a:rPr sz="1100" b="0">
                          <a:solidFill>
                            <a:srgbClr val="1A1A1A"/>
                          </a:solidFill>
                          <a:latin typeface="Calibri"/>
                        </a:rPr>
                        <a:t>System binary in Colab</a:t>
                      </a:r>
                    </a:p>
                  </a:txBody>
                  <a:tcPr>
                    <a:solidFill>
                      <a:srgbClr val="F4F6F8"/>
                    </a:solidFill>
                  </a:tcPr>
                </a:tc>
              </a:tr>
              <a:tr h="579120">
                <a:tc>
                  <a:txBody>
                    <a:bodyPr/>
                    <a:lstStyle/>
                    <a:p>
                      <a:r>
                        <a:rPr sz="1100" b="0">
                          <a:solidFill>
                            <a:srgbClr val="1A1A1A"/>
                          </a:solidFill>
                          <a:latin typeface="Calibri"/>
                        </a:rPr>
                        <a:t>scad123d / scad2step</a:t>
                      </a:r>
                    </a:p>
                  </a:txBody>
                  <a:tcPr>
                    <a:solidFill>
                      <a:srgbClr val="FFFFFF"/>
                    </a:solidFill>
                  </a:tcPr>
                </a:tc>
                <a:tc>
                  <a:txBody>
                    <a:bodyPr/>
                    <a:lstStyle/>
                    <a:p>
                      <a:r>
                        <a:rPr sz="1100" b="0">
                          <a:solidFill>
                            <a:srgbClr val="1A1A1A"/>
                          </a:solidFill>
                          <a:latin typeface="Calibri"/>
                        </a:rPr>
                        <a:t>SCAD → STEP</a:t>
                      </a:r>
                    </a:p>
                  </a:txBody>
                  <a:tcPr>
                    <a:solidFill>
                      <a:srgbClr val="FFFFFF"/>
                    </a:solidFill>
                  </a:tcPr>
                </a:tc>
                <a:tc>
                  <a:txBody>
                    <a:bodyPr/>
                    <a:lstStyle/>
                    <a:p>
                      <a:r>
                        <a:rPr sz="1100" b="0">
                          <a:solidFill>
                            <a:srgbClr val="1A1A1A"/>
                          </a:solidFill>
                          <a:latin typeface="Calibri"/>
                        </a:rPr>
                        <a:t>github.com/etjones/…</a:t>
                      </a:r>
                    </a:p>
                  </a:txBody>
                  <a:tcPr>
                    <a:solidFill>
                      <a:srgbClr val="FFFFFF"/>
                    </a:solidFill>
                  </a:tcPr>
                </a:tc>
                <a:tc>
                  <a:txBody>
                    <a:bodyPr/>
                    <a:lstStyle/>
                    <a:p>
                      <a:r>
                        <a:rPr sz="1100" b="0">
                          <a:solidFill>
                            <a:srgbClr val="1A1A1A"/>
                          </a:solidFill>
                          <a:latin typeface="Calibri"/>
                        </a:rPr>
                        <a:t>MIT</a:t>
                      </a:r>
                    </a:p>
                  </a:txBody>
                  <a:tcPr>
                    <a:solidFill>
                      <a:srgbClr val="FFFFFF"/>
                    </a:solidFill>
                  </a:tcPr>
                </a:tc>
                <a:tc>
                  <a:txBody>
                    <a:bodyPr/>
                    <a:lstStyle/>
                    <a:p>
                      <a:r>
                        <a:rPr sz="1100" b="0">
                          <a:solidFill>
                            <a:srgbClr val="1A1A1A"/>
                          </a:solidFill>
                          <a:latin typeface="Calibri"/>
                        </a:rPr>
                        <a:t>Official CLI, pinned clone</a:t>
                      </a:r>
                    </a:p>
                  </a:txBody>
                  <a:tcPr>
                    <a:solidFill>
                      <a:srgbClr val="FFFFFF"/>
                    </a:solidFill>
                  </a:tcPr>
                </a:tc>
              </a:tr>
              <a:tr h="579120">
                <a:tc>
                  <a:txBody>
                    <a:bodyPr/>
                    <a:lstStyle/>
                    <a:p>
                      <a:r>
                        <a:rPr sz="1100" b="0">
                          <a:solidFill>
                            <a:srgbClr val="1A1A1A"/>
                          </a:solidFill>
                          <a:latin typeface="Calibri"/>
                        </a:rPr>
                        <a:t>draftwright</a:t>
                      </a:r>
                    </a:p>
                  </a:txBody>
                  <a:tcPr>
                    <a:solidFill>
                      <a:srgbClr val="F4F6F8"/>
                    </a:solidFill>
                  </a:tcPr>
                </a:tc>
                <a:tc>
                  <a:txBody>
                    <a:bodyPr/>
                    <a:lstStyle/>
                    <a:p>
                      <a:r>
                        <a:rPr sz="1100" b="0">
                          <a:solidFill>
                            <a:srgbClr val="1A1A1A"/>
                          </a:solidFill>
                          <a:latin typeface="Calibri"/>
                        </a:rPr>
                        <a:t>STEP → drawing</a:t>
                      </a:r>
                    </a:p>
                  </a:txBody>
                  <a:tcPr>
                    <a:solidFill>
                      <a:srgbClr val="F4F6F8"/>
                    </a:solidFill>
                  </a:tcPr>
                </a:tc>
                <a:tc>
                  <a:txBody>
                    <a:bodyPr/>
                    <a:lstStyle/>
                    <a:p>
                      <a:r>
                        <a:rPr sz="1100" b="0">
                          <a:solidFill>
                            <a:srgbClr val="1A1A1A"/>
                          </a:solidFill>
                          <a:latin typeface="Calibri"/>
                        </a:rPr>
                        <a:t>github.com/pzfreo/…</a:t>
                      </a:r>
                    </a:p>
                  </a:txBody>
                  <a:tcPr>
                    <a:solidFill>
                      <a:srgbClr val="F4F6F8"/>
                    </a:solidFill>
                  </a:tcPr>
                </a:tc>
                <a:tc>
                  <a:txBody>
                    <a:bodyPr/>
                    <a:lstStyle/>
                    <a:p>
                      <a:r>
                        <a:rPr sz="1100" b="0">
                          <a:solidFill>
                            <a:srgbClr val="1A1A1A"/>
                          </a:solidFill>
                          <a:latin typeface="Calibri"/>
                        </a:rPr>
                        <a:t>AGPL-3.0</a:t>
                      </a:r>
                    </a:p>
                  </a:txBody>
                  <a:tcPr>
                    <a:solidFill>
                      <a:srgbClr val="F4F6F8"/>
                    </a:solidFill>
                  </a:tcPr>
                </a:tc>
                <a:tc>
                  <a:txBody>
                    <a:bodyPr/>
                    <a:lstStyle/>
                    <a:p>
                      <a:r>
                        <a:rPr sz="1100" b="0">
                          <a:solidFill>
                            <a:srgbClr val="1A1A1A"/>
                          </a:solidFill>
                          <a:latin typeface="Calibri"/>
                        </a:rPr>
                        <a:t>Official CLI, pinned clone</a:t>
                      </a:r>
                    </a:p>
                  </a:txBody>
                  <a:tcPr>
                    <a:solidFill>
                      <a:srgbClr val="F4F6F8"/>
                    </a:solidFill>
                  </a:tcPr>
                </a:tc>
              </a:tr>
              <a:tr h="579120">
                <a:tc>
                  <a:txBody>
                    <a:bodyPr/>
                    <a:lstStyle/>
                    <a:p>
                      <a:r>
                        <a:rPr sz="1100" b="0">
                          <a:solidFill>
                            <a:srgbClr val="1A1A1A"/>
                          </a:solidFill>
                          <a:latin typeface="Calibri"/>
                        </a:rPr>
                        <a:t>build123d</a:t>
                      </a:r>
                    </a:p>
                  </a:txBody>
                  <a:tcPr>
                    <a:solidFill>
                      <a:srgbClr val="FFFFFF"/>
                    </a:solidFill>
                  </a:tcPr>
                </a:tc>
                <a:tc>
                  <a:txBody>
                    <a:bodyPr/>
                    <a:lstStyle/>
                    <a:p>
                      <a:r>
                        <a:rPr sz="1100" b="0">
                          <a:solidFill>
                            <a:srgbClr val="1A1A1A"/>
                          </a:solidFill>
                          <a:latin typeface="Calibri"/>
                        </a:rPr>
                        <a:t>Python CAD kernel</a:t>
                      </a:r>
                    </a:p>
                  </a:txBody>
                  <a:tcPr>
                    <a:solidFill>
                      <a:srgbClr val="FFFFFF"/>
                    </a:solidFill>
                  </a:tcPr>
                </a:tc>
                <a:tc>
                  <a:txBody>
                    <a:bodyPr/>
                    <a:lstStyle/>
                    <a:p>
                      <a:r>
                        <a:rPr sz="1100" b="0">
                          <a:solidFill>
                            <a:srgbClr val="1A1A1A"/>
                          </a:solidFill>
                          <a:latin typeface="Calibri"/>
                        </a:rPr>
                        <a:t>github.com/gumyr/…</a:t>
                      </a:r>
                    </a:p>
                  </a:txBody>
                  <a:tcPr>
                    <a:solidFill>
                      <a:srgbClr val="FFFFFF"/>
                    </a:solidFill>
                  </a:tcPr>
                </a:tc>
                <a:tc>
                  <a:txBody>
                    <a:bodyPr/>
                    <a:lstStyle/>
                    <a:p>
                      <a:r>
                        <a:rPr sz="1100" b="0">
                          <a:solidFill>
                            <a:srgbClr val="1A1A1A"/>
                          </a:solidFill>
                          <a:latin typeface="Calibri"/>
                        </a:rPr>
                        <a:t>Apache-2.0</a:t>
                      </a:r>
                    </a:p>
                  </a:txBody>
                  <a:tcPr>
                    <a:solidFill>
                      <a:srgbClr val="FFFFFF"/>
                    </a:solidFill>
                  </a:tcPr>
                </a:tc>
                <a:tc>
                  <a:txBody>
                    <a:bodyPr/>
                    <a:lstStyle/>
                    <a:p>
                      <a:r>
                        <a:rPr sz="1100" b="0">
                          <a:solidFill>
                            <a:srgbClr val="1A1A1A"/>
                          </a:solidFill>
                          <a:latin typeface="Calibri"/>
                        </a:rPr>
                        <a:t>Transitive, inside those envs</a:t>
                      </a:r>
                    </a:p>
                  </a:txBody>
                  <a:tcPr>
                    <a:solidFill>
                      <a:srgbClr val="FFFFFF"/>
                    </a:solidFill>
                  </a:tcPr>
                </a:tc>
              </a:tr>
              <a:tr h="579120">
                <a:tc>
                  <a:txBody>
                    <a:bodyPr/>
                    <a:lstStyle/>
                    <a:p>
                      <a:r>
                        <a:rPr sz="1100" b="0">
                          <a:solidFill>
                            <a:srgbClr val="1A1A1A"/>
                          </a:solidFill>
                          <a:latin typeface="Calibri"/>
                        </a:rPr>
                        <a:t>BOSL2</a:t>
                      </a:r>
                    </a:p>
                  </a:txBody>
                  <a:tcPr>
                    <a:solidFill>
                      <a:srgbClr val="F4F6F8"/>
                    </a:solidFill>
                  </a:tcPr>
                </a:tc>
                <a:tc>
                  <a:txBody>
                    <a:bodyPr/>
                    <a:lstStyle/>
                    <a:p>
                      <a:r>
                        <a:rPr sz="1100" b="0">
                          <a:solidFill>
                            <a:srgbClr val="1A1A1A"/>
                          </a:solidFill>
                          <a:latin typeface="Calibri"/>
                        </a:rPr>
                        <a:t>OpenSCAD library</a:t>
                      </a:r>
                    </a:p>
                  </a:txBody>
                  <a:tcPr>
                    <a:solidFill>
                      <a:srgbClr val="F4F6F8"/>
                    </a:solidFill>
                  </a:tcPr>
                </a:tc>
                <a:tc>
                  <a:txBody>
                    <a:bodyPr/>
                    <a:lstStyle/>
                    <a:p>
                      <a:r>
                        <a:rPr sz="1100" b="0">
                          <a:solidFill>
                            <a:srgbClr val="1A1A1A"/>
                          </a:solidFill>
                          <a:latin typeface="Calibri"/>
                        </a:rPr>
                        <a:t>github.com/BelfrySCAD/…</a:t>
                      </a:r>
                    </a:p>
                  </a:txBody>
                  <a:tcPr>
                    <a:solidFill>
                      <a:srgbClr val="F4F6F8"/>
                    </a:solidFill>
                  </a:tcPr>
                </a:tc>
                <a:tc>
                  <a:txBody>
                    <a:bodyPr/>
                    <a:lstStyle/>
                    <a:p>
                      <a:r>
                        <a:rPr sz="1100" b="0">
                          <a:solidFill>
                            <a:srgbClr val="1A1A1A"/>
                          </a:solidFill>
                          <a:latin typeface="Calibri"/>
                        </a:rPr>
                        <a:t>BSD-2-Clause</a:t>
                      </a:r>
                    </a:p>
                  </a:txBody>
                  <a:tcPr>
                    <a:solidFill>
                      <a:srgbClr val="F4F6F8"/>
                    </a:solidFill>
                  </a:tcPr>
                </a:tc>
                <a:tc>
                  <a:txBody>
                    <a:bodyPr/>
                    <a:lstStyle/>
                    <a:p>
                      <a:r>
                        <a:rPr sz="1100" b="0">
                          <a:solidFill>
                            <a:srgbClr val="1A1A1A"/>
                          </a:solidFill>
                          <a:latin typeface="Calibri"/>
                        </a:rPr>
                        <a:t>Optional OpenSCAD include</a:t>
                      </a:r>
                    </a:p>
                  </a:txBody>
                  <a:tcPr>
                    <a:solidFill>
                      <a:srgbClr val="F4F6F8"/>
                    </a:solidFill>
                  </a:tcPr>
                </a:tc>
              </a:tr>
              <a:tr h="579120">
                <a:tc>
                  <a:txBody>
                    <a:bodyPr/>
                    <a:lstStyle/>
                    <a:p>
                      <a:r>
                        <a:rPr sz="1100" b="0">
                          <a:solidFill>
                            <a:srgbClr val="1A1A1A"/>
                          </a:solidFill>
                          <a:latin typeface="Calibri"/>
                        </a:rPr>
                        <a:t>Google Colab</a:t>
                      </a:r>
                    </a:p>
                  </a:txBody>
                  <a:tcPr>
                    <a:solidFill>
                      <a:srgbClr val="FFFFFF"/>
                    </a:solidFill>
                  </a:tcPr>
                </a:tc>
                <a:tc>
                  <a:txBody>
                    <a:bodyPr/>
                    <a:lstStyle/>
                    <a:p>
                      <a:r>
                        <a:rPr sz="1100" b="0">
                          <a:solidFill>
                            <a:srgbClr val="1A1A1A"/>
                          </a:solidFill>
                          <a:latin typeface="Calibri"/>
                        </a:rPr>
                        <a:t>Hosted notebook</a:t>
                      </a:r>
                    </a:p>
                  </a:txBody>
                  <a:tcPr>
                    <a:solidFill>
                      <a:srgbClr val="FFFFFF"/>
                    </a:solidFill>
                  </a:tcPr>
                </a:tc>
                <a:tc>
                  <a:txBody>
                    <a:bodyPr/>
                    <a:lstStyle/>
                    <a:p>
                      <a:r>
                        <a:rPr sz="1100" b="0">
                          <a:solidFill>
                            <a:srgbClr val="1A1A1A"/>
                          </a:solidFill>
                          <a:latin typeface="Calibri"/>
                        </a:rPr>
                        <a:t>colab.research.google.com</a:t>
                      </a:r>
                    </a:p>
                  </a:txBody>
                  <a:tcPr>
                    <a:solidFill>
                      <a:srgbClr val="FFFFFF"/>
                    </a:solidFill>
                  </a:tcPr>
                </a:tc>
                <a:tc>
                  <a:txBody>
                    <a:bodyPr/>
                    <a:lstStyle/>
                    <a:p>
                      <a:r>
                        <a:rPr sz="1100" b="0">
                          <a:solidFill>
                            <a:srgbClr val="1A1A1A"/>
                          </a:solidFill>
                          <a:latin typeface="Calibri"/>
                        </a:rPr>
                        <a:t>Google ToS</a:t>
                      </a:r>
                    </a:p>
                  </a:txBody>
                  <a:tcPr>
                    <a:solidFill>
                      <a:srgbClr val="FFFFFF"/>
                    </a:solidFill>
                  </a:tcPr>
                </a:tc>
                <a:tc>
                  <a:txBody>
                    <a:bodyPr/>
                    <a:lstStyle/>
                    <a:p>
                      <a:r>
                        <a:rPr sz="1100" b="0">
                          <a:solidFill>
                            <a:srgbClr val="1A1A1A"/>
                          </a:solidFill>
                          <a:latin typeface="Calibri"/>
                        </a:rPr>
                        <a:t>Where the job runs</a:t>
                      </a:r>
                    </a:p>
                  </a:txBody>
                  <a:tcPr>
                    <a:solidFill>
                      <a:srgbClr val="FFFFFF"/>
                    </a:solidFill>
                  </a:tcPr>
                </a:tc>
              </a:tr>
              <a:tr h="579120">
                <a:tc>
                  <a:txBody>
                    <a:bodyPr/>
                    <a:lstStyle/>
                    <a:p>
                      <a:r>
                        <a:rPr sz="1100" b="0">
                          <a:solidFill>
                            <a:srgbClr val="1A1A1A"/>
                          </a:solidFill>
                          <a:latin typeface="Calibri"/>
                        </a:rPr>
                        <a:t>Onshape</a:t>
                      </a:r>
                    </a:p>
                  </a:txBody>
                  <a:tcPr>
                    <a:solidFill>
                      <a:srgbClr val="F4F6F8"/>
                    </a:solidFill>
                  </a:tcPr>
                </a:tc>
                <a:tc>
                  <a:txBody>
                    <a:bodyPr/>
                    <a:lstStyle/>
                    <a:p>
                      <a:r>
                        <a:rPr sz="1100" b="0">
                          <a:solidFill>
                            <a:srgbClr val="1A1A1A"/>
                          </a:solidFill>
                          <a:latin typeface="Calibri"/>
                        </a:rPr>
                        <a:t>Browser CAD / PDM</a:t>
                      </a:r>
                    </a:p>
                  </a:txBody>
                  <a:tcPr>
                    <a:solidFill>
                      <a:srgbClr val="F4F6F8"/>
                    </a:solidFill>
                  </a:tcPr>
                </a:tc>
                <a:tc>
                  <a:txBody>
                    <a:bodyPr/>
                    <a:lstStyle/>
                    <a:p>
                      <a:r>
                        <a:rPr sz="1100" b="0">
                          <a:solidFill>
                            <a:srgbClr val="1A1A1A"/>
                          </a:solidFill>
                          <a:latin typeface="Calibri"/>
                        </a:rPr>
                        <a:t>onshape.com</a:t>
                      </a:r>
                    </a:p>
                  </a:txBody>
                  <a:tcPr>
                    <a:solidFill>
                      <a:srgbClr val="F4F6F8"/>
                    </a:solidFill>
                  </a:tcPr>
                </a:tc>
                <a:tc>
                  <a:txBody>
                    <a:bodyPr/>
                    <a:lstStyle/>
                    <a:p>
                      <a:r>
                        <a:rPr sz="1100" b="0">
                          <a:solidFill>
                            <a:srgbClr val="1A1A1A"/>
                          </a:solidFill>
                          <a:latin typeface="Calibri"/>
                        </a:rPr>
                        <a:t>Commercial</a:t>
                      </a:r>
                    </a:p>
                  </a:txBody>
                  <a:tcPr>
                    <a:solidFill>
                      <a:srgbClr val="F4F6F8"/>
                    </a:solidFill>
                  </a:tcPr>
                </a:tc>
                <a:tc>
                  <a:txBody>
                    <a:bodyPr/>
                    <a:lstStyle/>
                    <a:p>
                      <a:r>
                        <a:rPr sz="1100" b="0">
                          <a:solidFill>
                            <a:srgbClr val="1A1A1A"/>
                          </a:solidFill>
                          <a:latin typeface="Calibri"/>
                        </a:rPr>
                        <a:t>Mates &amp; assemblies, unchanged</a:t>
                      </a:r>
                    </a:p>
                  </a:txBody>
                  <a:tcPr>
                    <a:solidFill>
                      <a:srgbClr val="F4F6F8"/>
                    </a:solidFill>
                  </a:tcPr>
                </a:tc>
              </a:tr>
              <a:tr h="579120">
                <a:tc>
                  <a:txBody>
                    <a:bodyPr/>
                    <a:lstStyle/>
                    <a:p>
                      <a:r>
                        <a:rPr sz="1100" b="0">
                          <a:solidFill>
                            <a:srgbClr val="1A1A1A"/>
                          </a:solidFill>
                          <a:latin typeface="Calibri"/>
                        </a:rPr>
                        <a:t>scad2drawing</a:t>
                      </a:r>
                    </a:p>
                  </a:txBody>
                  <a:tcPr>
                    <a:solidFill>
                      <a:srgbClr val="FFFFFF"/>
                    </a:solidFill>
                  </a:tcPr>
                </a:tc>
                <a:tc>
                  <a:txBody>
                    <a:bodyPr/>
                    <a:lstStyle/>
                    <a:p>
                      <a:r>
                        <a:rPr sz="1100" b="0">
                          <a:solidFill>
                            <a:srgbClr val="1A1A1A"/>
                          </a:solidFill>
                          <a:latin typeface="Calibri"/>
                        </a:rPr>
                        <a:t>This glue project</a:t>
                      </a:r>
                    </a:p>
                  </a:txBody>
                  <a:tcPr>
                    <a:solidFill>
                      <a:srgbClr val="FFFFFF"/>
                    </a:solidFill>
                  </a:tcPr>
                </a:tc>
                <a:tc>
                  <a:txBody>
                    <a:bodyPr/>
                    <a:lstStyle/>
                    <a:p>
                      <a:r>
                        <a:rPr sz="1100" b="0">
                          <a:solidFill>
                            <a:srgbClr val="1A1A1A"/>
                          </a:solidFill>
                          <a:latin typeface="Calibri"/>
                        </a:rPr>
                        <a:t>our GitHub repo</a:t>
                      </a:r>
                    </a:p>
                  </a:txBody>
                  <a:tcPr>
                    <a:solidFill>
                      <a:srgbClr val="FFFFFF"/>
                    </a:solidFill>
                  </a:tcPr>
                </a:tc>
                <a:tc>
                  <a:txBody>
                    <a:bodyPr/>
                    <a:lstStyle/>
                    <a:p>
                      <a:r>
                        <a:rPr sz="1100" b="0">
                          <a:solidFill>
                            <a:srgbClr val="1A1A1A"/>
                          </a:solidFill>
                          <a:latin typeface="Calibri"/>
                        </a:rPr>
                        <a:t>MIT</a:t>
                      </a:r>
                    </a:p>
                  </a:txBody>
                  <a:tcPr>
                    <a:solidFill>
                      <a:srgbClr val="FFFFFF"/>
                    </a:solidFill>
                  </a:tcPr>
                </a:tc>
                <a:tc>
                  <a:txBody>
                    <a:bodyPr/>
                    <a:lstStyle/>
                    <a:p>
                      <a:r>
                        <a:rPr sz="1100" b="0">
                          <a:solidFill>
                            <a:srgbClr val="1A1A1A"/>
                          </a:solidFill>
                          <a:latin typeface="Calibri"/>
                        </a:rPr>
                        <a:t>Notebook, CLI, SOP, samples</a:t>
                      </a:r>
                    </a:p>
                  </a:txBody>
                  <a:tcPr>
                    <a:solidFill>
                      <a:srgbClr val="FFFFFF"/>
                    </a:solidFill>
                  </a:tcPr>
                </a:tc>
              </a:tr>
            </a:tbl>
          </a:graphicData>
        </a:graphic>
      </p:graphicFrame>
      <p:sp>
        <p:nvSpPr>
          <p:cNvPr id="7" name="Rectangle 6"/>
          <p:cNvSpPr/>
          <p:nvPr/>
        </p:nvSpPr>
        <p:spPr>
          <a:xfrm>
            <a:off x="457200" y="6537960"/>
            <a:ext cx="11247120" cy="13716"/>
          </a:xfrm>
          <a:prstGeom prst="rect">
            <a:avLst/>
          </a:prstGeom>
          <a:solidFill>
            <a:srgbClr val="D0D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83680"/>
            <a:ext cx="8229600" cy="228600"/>
          </a:xfrm>
          <a:prstGeom prst="rect">
            <a:avLst/>
          </a:prstGeom>
          <a:noFill/>
        </p:spPr>
        <p:txBody>
          <a:bodyPr wrap="none">
            <a:spAutoFit/>
          </a:bodyPr>
          <a:lstStyle/>
          <a:p>
            <a:r>
              <a:rPr sz="1100" b="0">
                <a:solidFill>
                  <a:srgbClr val="5A5A5A"/>
                </a:solidFill>
                <a:latin typeface="Calibri"/>
              </a:rPr>
              <a:t>scad2drawing  ·  V1 briefing</a:t>
            </a:r>
          </a:p>
        </p:txBody>
      </p:sp>
      <p:sp>
        <p:nvSpPr>
          <p:cNvPr id="9" name="TextBox 8"/>
          <p:cNvSpPr txBox="1"/>
          <p:nvPr/>
        </p:nvSpPr>
        <p:spPr>
          <a:xfrm>
            <a:off x="9601200" y="6583680"/>
            <a:ext cx="2103120" cy="228600"/>
          </a:xfrm>
          <a:prstGeom prst="rect">
            <a:avLst/>
          </a:prstGeom>
          <a:noFill/>
        </p:spPr>
        <p:txBody>
          <a:bodyPr wrap="none">
            <a:spAutoFit/>
          </a:bodyPr>
          <a:lstStyle/>
          <a:p>
            <a:pPr algn="r"/>
            <a:r>
              <a:rPr sz="1100" b="0">
                <a:solidFill>
                  <a:srgbClr val="5A5A5A"/>
                </a:solidFill>
                <a:latin typeface="Calibri"/>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457200"/>
          </a:xfrm>
          <a:prstGeom prst="rect">
            <a:avLst/>
          </a:prstGeom>
          <a:noFill/>
        </p:spPr>
        <p:txBody>
          <a:bodyPr wrap="none">
            <a:spAutoFit/>
          </a:bodyPr>
          <a:lstStyle/>
          <a:p>
            <a:r>
              <a:rPr sz="2600" b="1">
                <a:solidFill>
                  <a:srgbClr val="FFFFFF"/>
                </a:solidFill>
                <a:latin typeface="Calibri"/>
              </a:rPr>
              <a:t>Status and what “done” means</a:t>
            </a:r>
          </a:p>
        </p:txBody>
      </p:sp>
      <p:sp>
        <p:nvSpPr>
          <p:cNvPr id="4" name="TextBox 3"/>
          <p:cNvSpPr txBox="1"/>
          <p:nvPr/>
        </p:nvSpPr>
        <p:spPr>
          <a:xfrm>
            <a:off x="457200" y="585216"/>
            <a:ext cx="11247120" cy="292608"/>
          </a:xfrm>
          <a:prstGeom prst="rect">
            <a:avLst/>
          </a:prstGeom>
          <a:noFill/>
        </p:spPr>
        <p:txBody>
          <a:bodyPr wrap="none">
            <a:spAutoFit/>
          </a:bodyPr>
          <a:lstStyle/>
          <a:p>
            <a:r>
              <a:rPr sz="1300" b="0">
                <a:solidFill>
                  <a:srgbClr val="C5D4E8"/>
                </a:solidFill>
                <a:latin typeface="Calibri"/>
              </a:rPr>
              <a:t>V1 is implemented and proven on the converter</a:t>
            </a:r>
          </a:p>
        </p:txBody>
      </p:sp>
      <p:sp>
        <p:nvSpPr>
          <p:cNvPr id="5" name="Rectangle 4"/>
          <p:cNvSpPr/>
          <p:nvPr/>
        </p:nvSpPr>
        <p:spPr>
          <a:xfrm>
            <a:off x="0" y="960120"/>
            <a:ext cx="12191695"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34440"/>
            <a:ext cx="11247120" cy="5029200"/>
          </a:xfrm>
          <a:prstGeom prst="rect">
            <a:avLst/>
          </a:prstGeom>
          <a:noFill/>
        </p:spPr>
        <p:txBody>
          <a:bodyPr wrap="square">
            <a:spAutoFit/>
          </a:bodyPr>
          <a:lstStyle/>
          <a:p>
            <a:pPr>
              <a:spcAft>
                <a:spcPts val="1000"/>
              </a:spcAft>
            </a:pPr>
            <a:r>
              <a:rPr sz="1600" b="0">
                <a:solidFill>
                  <a:srgbClr val="1A1A1A"/>
                </a:solidFill>
                <a:latin typeface="Calibri"/>
              </a:rPr>
              <a:t>Done: glue CLI, Colab template (one CONFIG cell), Gemini SOP, samples, license notices. Unit tests pass.</a:t>
            </a:r>
          </a:p>
          <a:p>
            <a:pPr>
              <a:spcAft>
                <a:spcPts val="1000"/>
              </a:spcAft>
            </a:pPr>
            <a:r>
              <a:rPr sz="1600" b="0">
                <a:solidFill>
                  <a:srgbClr val="1A1A1A"/>
                </a:solidFill>
                <a:latin typeface="Calibri"/>
              </a:rPr>
              <a:t>Proven here: OpenSCAD 2021.01 + pinned engines converted a plate with four holes into a dimensioned PDF (previous slide). A hull-of-spheres sample correctly warned mesh fallback.</a:t>
            </a:r>
          </a:p>
          <a:p>
            <a:pPr>
              <a:spcAft>
                <a:spcPts val="1000"/>
              </a:spcAft>
            </a:pPr>
            <a:r>
              <a:rPr sz="1600" b="0">
                <a:solidFill>
                  <a:srgbClr val="1A1A1A"/>
                </a:solidFill>
                <a:latin typeface="Calibri"/>
              </a:rPr>
              <a:t>Remaining check: first run of the template on a real Colab account with a production .scad (setup time, library includes).</a:t>
            </a:r>
          </a:p>
          <a:p>
            <a:pPr>
              <a:spcAft>
                <a:spcPts val="1000"/>
              </a:spcAft>
            </a:pPr>
            <a:r>
              <a:rPr sz="1600" b="0">
                <a:solidFill>
                  <a:srgbClr val="1A1A1A"/>
                </a:solidFill>
                <a:latin typeface="Calibri"/>
              </a:rPr>
              <a:t>V2 (not started): richer drawings inside the draftwright environment only; still no mixing CAD stacks in one Colab kernel until pins allow it.</a:t>
            </a:r>
          </a:p>
          <a:p>
            <a:pPr>
              <a:spcAft>
                <a:spcPts val="1000"/>
              </a:spcAft>
            </a:pPr>
            <a:r>
              <a:rPr sz="1600" b="0">
                <a:solidFill>
                  <a:srgbClr val="1A1A1A"/>
                </a:solidFill>
                <a:latin typeface="Calibri"/>
              </a:rPr>
              <a:t>Ask of you: treat V1 as a single-part drawing assistant on top of the existing SCAD→STEP→Onshape SOP — not as a full drawing office or a mechanism tool.</a:t>
            </a:r>
          </a:p>
        </p:txBody>
      </p:sp>
      <p:sp>
        <p:nvSpPr>
          <p:cNvPr id="7" name="Rectangle 6"/>
          <p:cNvSpPr/>
          <p:nvPr/>
        </p:nvSpPr>
        <p:spPr>
          <a:xfrm>
            <a:off x="457200" y="6537960"/>
            <a:ext cx="11247120" cy="13716"/>
          </a:xfrm>
          <a:prstGeom prst="rect">
            <a:avLst/>
          </a:prstGeom>
          <a:solidFill>
            <a:srgbClr val="D0D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83680"/>
            <a:ext cx="8229600" cy="228600"/>
          </a:xfrm>
          <a:prstGeom prst="rect">
            <a:avLst/>
          </a:prstGeom>
          <a:noFill/>
        </p:spPr>
        <p:txBody>
          <a:bodyPr wrap="none">
            <a:spAutoFit/>
          </a:bodyPr>
          <a:lstStyle/>
          <a:p>
            <a:r>
              <a:rPr sz="1100" b="0">
                <a:solidFill>
                  <a:srgbClr val="5A5A5A"/>
                </a:solidFill>
                <a:latin typeface="Calibri"/>
              </a:rPr>
              <a:t>scad2drawing  ·  V1 briefing</a:t>
            </a:r>
          </a:p>
        </p:txBody>
      </p:sp>
      <p:sp>
        <p:nvSpPr>
          <p:cNvPr id="9" name="TextBox 8"/>
          <p:cNvSpPr txBox="1"/>
          <p:nvPr/>
        </p:nvSpPr>
        <p:spPr>
          <a:xfrm>
            <a:off x="9601200" y="6583680"/>
            <a:ext cx="2103120" cy="228600"/>
          </a:xfrm>
          <a:prstGeom prst="rect">
            <a:avLst/>
          </a:prstGeom>
          <a:noFill/>
        </p:spPr>
        <p:txBody>
          <a:bodyPr wrap="none">
            <a:spAutoFit/>
          </a:bodyPr>
          <a:lstStyle/>
          <a:p>
            <a:pPr algn="r"/>
            <a:r>
              <a:rPr sz="1100" b="0">
                <a:solidFill>
                  <a:srgbClr val="5A5A5A"/>
                </a:solidFill>
                <a:latin typeface="Calibri"/>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